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6858000" cx="12192000"/>
  <p:notesSz cx="12192000" cy="6858000"/>
  <p:embeddedFontLst>
    <p:embeddedFont>
      <p:font typeface="Roboto"/>
      <p:regular r:id="rId51"/>
      <p:bold r:id="rId52"/>
      <p:italic r:id="rId53"/>
      <p:boldItalic r:id="rId54"/>
    </p:embeddedFont>
    <p:embeddedFont>
      <p:font typeface="Arial Narrow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i6+QA/Q6Rqub8s1DEw/C+7Pc7t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B07D42-7F0E-4DFD-B4E2-AC23A56A857F}">
  <a:tblStyle styleId="{39B07D42-7F0E-4DFD-B4E2-AC23A56A857F}" styleName="Table_0">
    <a:wholeTbl>
      <a:tcTxStyle b="off" i="off">
        <a:font>
          <a:latin typeface="GPN_DIN Regular"/>
          <a:ea typeface="GPN_DIN Regular"/>
          <a:cs typeface="GPN_DIN Regular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7F7"/>
          </a:solidFill>
        </a:fill>
      </a:tcStyle>
    </a:wholeTbl>
    <a:band1H>
      <a:tcTxStyle/>
      <a:tcStyle>
        <a:fill>
          <a:solidFill>
            <a:srgbClr val="CAF0EE"/>
          </a:solidFill>
        </a:fill>
      </a:tcStyle>
    </a:band1H>
    <a:band2H>
      <a:tcTxStyle/>
    </a:band2H>
    <a:band1V>
      <a:tcTxStyle/>
      <a:tcStyle>
        <a:fill>
          <a:solidFill>
            <a:srgbClr val="CAF0EE"/>
          </a:solidFill>
        </a:fill>
      </a:tcStyle>
    </a:band1V>
    <a:band2V>
      <a:tcTxStyle/>
    </a:band2V>
    <a:lastCol>
      <a:tcTxStyle b="on" i="off">
        <a:font>
          <a:latin typeface="GPN_DIN Regular"/>
          <a:ea typeface="GPN_DIN Regular"/>
          <a:cs typeface="GPN_DIN Regular"/>
        </a:font>
        <a:srgbClr val="FFFFFF"/>
      </a:tcTxStyle>
      <a:tcStyle>
        <a:fill>
          <a:solidFill>
            <a:srgbClr val="00D6D2"/>
          </a:solidFill>
        </a:fill>
      </a:tcStyle>
    </a:lastCol>
    <a:firstCol>
      <a:tcTxStyle b="on" i="off">
        <a:font>
          <a:latin typeface="GPN_DIN Regular"/>
          <a:ea typeface="GPN_DIN Regular"/>
          <a:cs typeface="GPN_DIN Regular"/>
        </a:font>
        <a:srgbClr val="FFFFFF"/>
      </a:tcTxStyle>
      <a:tcStyle>
        <a:fill>
          <a:solidFill>
            <a:srgbClr val="00D6D2"/>
          </a:solidFill>
        </a:fill>
      </a:tcStyle>
    </a:firstCol>
    <a:lastRow>
      <a:tcTxStyle b="on" i="off">
        <a:font>
          <a:latin typeface="GPN_DIN Regular"/>
          <a:ea typeface="GPN_DIN Regular"/>
          <a:cs typeface="GPN_DIN Regular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00D6D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PN_DIN Regular"/>
          <a:ea typeface="GPN_DIN Regular"/>
          <a:cs typeface="GPN_DIN Regular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00D6D2"/>
          </a:solidFill>
        </a:fill>
      </a:tcStyle>
    </a:firstRow>
    <a:neCell>
      <a:tcTxStyle/>
    </a:neCell>
    <a:nwCell>
      <a:tcTxStyle/>
    </a:nwCell>
  </a:tblStyle>
  <a:tblStyle styleId="{ED713249-070B-4471-BF05-97D7B00ACB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EA6A8BE-69AF-4FFB-9DB2-1DC8E0AC6962}" styleName="Table_2">
    <a:wholeTbl>
      <a:tcTxStyle b="off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/>
    </a:lastCol>
    <a:firstCol>
      <a:tcTxStyle/>
    </a:firstCol>
    <a:lastRow>
      <a:tcTxStyle/>
      <a:tcStyle>
        <a:tcBdr>
          <a:top>
            <a:ln cap="flat" cmpd="sng" w="50800">
              <a:solidFill>
                <a:schemeClr val="accent1"/>
              </a:solidFill>
              <a:prstDash val="dashDot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6FAF739-1F6A-4551-B12A-FB8EE0A74770}" styleName="Table_3">
    <a:wholeTbl>
      <a:tcTxStyle b="off" i="off">
        <a:font>
          <a:latin typeface="GPN_DIN Condensed"/>
          <a:ea typeface="GPN_DIN Condensed"/>
          <a:cs typeface="GPN_DIN Condensed"/>
        </a:font>
        <a:srgbClr val="3C3C3C"/>
      </a:tcTxStyle>
      <a:tcStyle>
        <a:tcBdr>
          <a:left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459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/>
    </a:lastCol>
    <a:firstCol>
      <a:tcTxStyle/>
    </a:firstCol>
    <a:lastRow>
      <a:tcTxStyle/>
      <a:tcStyle>
        <a:tcBdr>
          <a:top>
            <a:ln cap="flat" cmpd="sng" w="50800">
              <a:solidFill>
                <a:srgbClr val="004596"/>
              </a:solidFill>
              <a:prstDash val="dashDot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GPN_DIN Condensed"/>
          <a:ea typeface="GPN_DIN Condensed"/>
          <a:cs typeface="GPN_DIN Condensed"/>
        </a:font>
        <a:srgbClr val="FFFFFF"/>
      </a:tcTxStyle>
      <a:tcStyle>
        <a:fill>
          <a:solidFill>
            <a:srgbClr val="004596"/>
          </a:solidFill>
        </a:fill>
      </a:tcStyle>
    </a:firstRow>
    <a:neCell>
      <a:tcTxStyle/>
    </a:neCell>
    <a:nwCell>
      <a:tcTxStyle/>
    </a:nwCell>
  </a:tblStyle>
  <a:tblStyle styleId="{FA6F8AA7-1CA0-4DD2-9450-6A554C926110}" styleName="Table_4">
    <a:wholeTbl>
      <a:tcTxStyle b="off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insideV>
        </a:tcBdr>
        <a:fill>
          <a:solidFill>
            <a:srgbClr val="E6E8EE"/>
          </a:solidFill>
        </a:fill>
      </a:tcStyle>
    </a:wholeTbl>
    <a:band1H>
      <a:tcTxStyle/>
      <a:tcStyle>
        <a:fill>
          <a:solidFill>
            <a:srgbClr val="CACEDC"/>
          </a:solidFill>
        </a:fill>
      </a:tcStyle>
    </a:band1H>
    <a:band2H>
      <a:tcTxStyle/>
    </a:band2H>
    <a:band1V>
      <a:tcTxStyle/>
      <a:tcStyle>
        <a:fill>
          <a:solidFill>
            <a:srgbClr val="CACEDC"/>
          </a:solidFill>
        </a:fill>
      </a:tcStyle>
    </a:band1V>
    <a:band2V>
      <a:tcTxStyle/>
      <a:tcStyle>
        <a:fill>
          <a:solidFill>
            <a:srgbClr val="CACEDC"/>
          </a:solidFill>
        </a:fill>
      </a:tcStyle>
    </a:band2V>
    <a:lastCol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40E1E7D5-75C8-47CD-AE3F-F929637BCA6B}" styleName="Table_5">
    <a:wholeTbl>
      <a:tcTxStyle b="off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chemeClr val="lt1"/>
          </a:solidFill>
        </a:fill>
      </a:tcStyle>
    </a:band1H>
    <a:band2H>
      <a:tcTxStyle/>
    </a:band2H>
    <a:band1V>
      <a:tcTxStyle/>
      <a:tcStyle>
        <a:fill>
          <a:solidFill>
            <a:schemeClr val="lt1"/>
          </a:solidFill>
        </a:fill>
      </a:tcStyle>
    </a:band1V>
    <a:band2V>
      <a:tcTxStyle/>
      <a:tcStyle>
        <a:fill>
          <a:solidFill>
            <a:schemeClr val="lt1"/>
          </a:solidFill>
        </a:fill>
      </a:tcStyle>
    </a:band2V>
    <a:lastCol>
      <a:tcTxStyle b="on" i="off">
        <a:font>
          <a:latin typeface="GPN_DIN Condensed"/>
          <a:ea typeface="GPN_DIN Condensed"/>
          <a:cs typeface="GPN_DIN Condensed"/>
        </a:font>
        <a:schemeClr val="dk1"/>
      </a:tcTxStyle>
      <a:tcStyle>
        <a:fill>
          <a:solidFill>
            <a:schemeClr val="lt1"/>
          </a:solidFill>
        </a:fill>
      </a:tcStyle>
    </a:lastCol>
    <a:firstCol>
      <a:tcTxStyle b="on" i="off">
        <a:font>
          <a:latin typeface="GPN_DIN Condensed"/>
          <a:ea typeface="GPN_DIN Condensed"/>
          <a:cs typeface="GPN_DIN Condensed"/>
        </a:font>
        <a:schemeClr val="dk1"/>
      </a:tcTxStyle>
      <a:tcStyle>
        <a:fill>
          <a:solidFill>
            <a:schemeClr val="lt1"/>
          </a:solidFill>
        </a:fill>
      </a:tcStyle>
    </a:firstCol>
    <a:lastRow>
      <a:tcTxStyle b="on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top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bottom>
            <a:ln cap="flat" cmpd="sng" w="12700">
              <a:solidFill>
                <a:schemeClr val="dk1"/>
              </a:solidFill>
              <a:prstDash val="dashDot"/>
              <a:round/>
              <a:headEnd len="sm" w="sm" type="none"/>
              <a:tailEnd len="sm" w="sm" type="none"/>
            </a:ln>
          </a:bottom>
        </a:tcBdr>
        <a:fill>
          <a:solidFill>
            <a:schemeClr val="lt1"/>
          </a:solidFill>
        </a:fill>
      </a:tcStyle>
    </a:firstRow>
    <a:neCell>
      <a:tcTxStyle/>
    </a:neCell>
    <a:nwCell>
      <a:tcTxStyle/>
    </a:nwCell>
  </a:tblStyle>
  <a:tblStyle styleId="{D6AC2BCF-09AB-4C85-8594-C6D45EFD64E4}" styleName="Table_6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3F73B76-8461-43C0-A3B8-6E51E452B95E}" styleName="Table_7">
    <a:wholeTbl>
      <a:tcTxStyle b="off" i="off">
        <a:font>
          <a:latin typeface="GPN_DIN Condensed"/>
          <a:ea typeface="GPN_DIN Condensed"/>
          <a:cs typeface="GPN_DIN Condensed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insideV>
        </a:tcBdr>
        <a:fill>
          <a:solidFill>
            <a:srgbClr val="E6E8EE"/>
          </a:solidFill>
        </a:fill>
      </a:tcStyle>
    </a:wholeTbl>
    <a:band1H>
      <a:tcTxStyle b="off" i="off"/>
      <a:tcStyle>
        <a:fill>
          <a:solidFill>
            <a:srgbClr val="CACED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EDC"/>
          </a:solidFill>
        </a:fill>
      </a:tcStyle>
    </a:band1V>
    <a:band2V>
      <a:tcTxStyle b="off" i="off"/>
      <a:tcStyle>
        <a:fill>
          <a:solidFill>
            <a:srgbClr val="CACEDC"/>
          </a:solidFill>
        </a:fill>
      </a:tcStyle>
    </a:band2V>
    <a:lastCol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PN_DIN Condensed"/>
          <a:ea typeface="GPN_DIN Condensed"/>
          <a:cs typeface="GPN_DIN Condensed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dashDot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regular.fntdata"/><Relationship Id="rId50" Type="http://schemas.openxmlformats.org/officeDocument/2006/relationships/slide" Target="slides/slide44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5.xml"/><Relationship Id="rId55" Type="http://schemas.openxmlformats.org/officeDocument/2006/relationships/font" Target="fonts/ArialNarrow-regular.fntdata"/><Relationship Id="rId10" Type="http://schemas.openxmlformats.org/officeDocument/2006/relationships/slide" Target="slides/slide4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7.xml"/><Relationship Id="rId57" Type="http://schemas.openxmlformats.org/officeDocument/2006/relationships/font" Target="fonts/ArialNarrow-italic.fntdata"/><Relationship Id="rId12" Type="http://schemas.openxmlformats.org/officeDocument/2006/relationships/slide" Target="slides/slide6.xml"/><Relationship Id="rId56" Type="http://schemas.openxmlformats.org/officeDocument/2006/relationships/font" Target="fonts/ArialNarrow-bold.fntdata"/><Relationship Id="rId15" Type="http://schemas.openxmlformats.org/officeDocument/2006/relationships/slide" Target="slides/slide9.xml"/><Relationship Id="rId59" Type="http://customschemas.google.com/relationships/presentationmetadata" Target="metadata"/><Relationship Id="rId14" Type="http://schemas.openxmlformats.org/officeDocument/2006/relationships/slide" Target="slides/slide8.xml"/><Relationship Id="rId58" Type="http://schemas.openxmlformats.org/officeDocument/2006/relationships/font" Target="fonts/ArialNarrow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7" y="5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8650" y="5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5250" y="742950"/>
            <a:ext cx="6604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05355"/>
            <a:ext cx="5435600" cy="4457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7" y="9408986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50" spcFirstLastPara="1" rIns="91250" wrap="square" tIns="456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8650" y="9408986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b.gazprom-neft.local/pages/viewpage.action?pageId=93623447&amp;src=contextnavpagetreemode" TargetMode="External"/><Relationship Id="rId3" Type="http://schemas.openxmlformats.org/officeDocument/2006/relationships/hyperlink" Target="https://reestr.digital.gov.ru/" TargetMode="Externa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73ffa0c65_0_85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73ffa0c65_0_85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73ffa0c65_0_85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0bedc70bcb8d47_4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0bedc70bcb8d47_4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70bedc70bcb8d47_4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761e156dd_0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f761e156dd_0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761e156dd_0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70bedc70bcb8d47_13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70bedc70bcb8d47_13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70bedc70bcb8d47_13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761e156dd_0_1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761e156dd_0_1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761e156dd_0_1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70bedc70bcb8d47_22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70bedc70bcb8d47_22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70bedc70bcb8d47_22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761e156dd_0_27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f761e156dd_0_27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761e156dd_0_27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764502030_1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f764502030_1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764502030_1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3e9b54e2d_0_26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f3e9b54e2d_0_26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f3e9b54e2d_0_26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3e9b54e2d_0_36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3e9b54e2d_0_36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f3e9b54e2d_0_36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70bedc70bcb8d47_31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70bedc70bcb8d47_31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70bedc70bcb8d47_31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761e156dd_0_19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f761e156dd_0_19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f761e156dd_0_19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70bedc70bcb8d47_44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70bedc70bcb8d47_44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70bedc70bcb8d47_44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70bedc70bcb8d47_53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70bedc70bcb8d47_53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70bedc70bcb8d47_53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3ea1c8ab7_6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f3ea1c8ab7_6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f3ea1c8ab7_6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3ea1c8ab7_6_8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f3ea1c8ab7_6_8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3ea1c8ab7_6_8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0bedc70bcb8d47_61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70bedc70bcb8d47_61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70bedc70bcb8d47_61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70bedc70bcb8d47_4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70bedc70bcb8d47_4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Из финальной презентации удалите со слайдов все комментарии: Надписи белым шрифтом в оранжевых областях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Обязательно ознакомьтесь с материалами по ссылкам со слайда «Полезные ссылки» в разделе Приложения.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 подготовке презентации необходимо оформить доступы к системам КСУ НСИ (ЕСИС) и КИС УКИТА (ARIS), ЕСАИН. Инструкции по ссылкам со слайда «Полезные ссылки» в разделе Приложения.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Учитывайте рекомендации по заполнению и оформлению слайдов, приведенные в заметках к слайду </a:t>
            </a:r>
            <a:r>
              <a:rPr i="1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(меню «Вид-&gt;Показать-&gt;Заметки»),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Проверьте, что слайд соответствует требованиям, определенным в файле «CheckList_ТС_Проект_Шаблон» последней версии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Указывайте какая архитектура согласовывается: Целевая или Транзитная. Например: «Целевая архитектура решения»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Дата соответствует созданию последней версии презентации, указанной на титульном листе.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Удалите все вспомогательные слайды Приложений шаблона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73ffa0c65_0_815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f73ffa0c65_0_815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73ffa0c65_0_815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73ffa0c65_0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f73ffa0c65_0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f73ffa0c65_0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3e5e7f043_1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f3e5e7f043_1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3e5e7f043_1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3e5e7f043_1_24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f3e5e7f043_1_24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f3e5e7f043_1_24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3e5e7f043_1_73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f3e5e7f043_1_73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f3e5e7f043_1_73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3e5e7f043_1_84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f3e5e7f043_1_84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f3e5e7f043_1_84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f3e5e7f043_1_96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f3e5e7f043_1_96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f3e5e7f043_1_96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:notes"/>
          <p:cNvSpPr/>
          <p:nvPr>
            <p:ph idx="2" type="sldImg"/>
          </p:nvPr>
        </p:nvSpPr>
        <p:spPr>
          <a:xfrm>
            <a:off x="95250" y="742950"/>
            <a:ext cx="6604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10:notes"/>
          <p:cNvSpPr txBox="1"/>
          <p:nvPr>
            <p:ph idx="1" type="body"/>
          </p:nvPr>
        </p:nvSpPr>
        <p:spPr>
          <a:xfrm>
            <a:off x="679450" y="4705355"/>
            <a:ext cx="5435600" cy="4457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Из финальной презентации удалите со слайдов все комментарии: Надписи белым шрифтом в оранжевых областях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Обязательно ознакомьтесь с материалами по ссылкам со слайда «Полезные ссылки» в разделе Приложения.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 подготовке презентации необходимо оформить доступы к системам КСУ НСИ (ЕСИС) и КИС УКИТА (ARIS), ЕСАИН. Инструкции по ссылкам со слайда «Полезные ссылки» в разделе Приложения.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Учитывайте рекомендации по заполнению и оформлению слайдов, приведенные в заметках к слайду </a:t>
            </a:r>
            <a:r>
              <a:rPr i="1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(меню «Вид-&gt;Показать-&gt;Заметки»),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Проверьте, что слайд соответствует требованиям, определенным в файле «CheckList_ТС_Проект_Шаблон» последней версии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Указывайте какая архитектура согласовывается: Целевая или Транзитная. Например: «Целевая архитектура решения»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Дата соответствует созданию последней версии презентации, указанной на титульном листе.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Удалите все вспомогательные слайды Приложений шаблона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73ffa0c65_0_15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f73ffa0c65_0_15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f73ffa0c65_0_15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73ffa0c65_0_789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f73ffa0c65_0_789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f73ffa0c65_0_789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f74450dabd_5_2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f74450dabd_5_2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g3f74450dabd_5_2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73ffa0c65_0_807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f73ffa0c65_0_807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f73ffa0c65_0_807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f748bd88aa_0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f748bd88aa_0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g3f748bd88aa_0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:notes"/>
          <p:cNvSpPr/>
          <p:nvPr>
            <p:ph idx="2" type="sldImg"/>
          </p:nvPr>
        </p:nvSpPr>
        <p:spPr>
          <a:xfrm>
            <a:off x="2697163" y="509588"/>
            <a:ext cx="4533900" cy="2549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6:notes"/>
          <p:cNvSpPr txBox="1"/>
          <p:nvPr>
            <p:ph idx="1" type="body"/>
          </p:nvPr>
        </p:nvSpPr>
        <p:spPr>
          <a:xfrm>
            <a:off x="679450" y="4705355"/>
            <a:ext cx="5435600" cy="4457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Отражаем общую ДК проекта с обязательными КТч согласно утвержденному плану КТч (приложение к Уставу), а также основными задачами. Детализируем текущий и будущий (при переходе) этапы в приложенных файлах (2 файла: детализация задач и детализация запроса финансирования). Также флажками необходимо отметить планируемые выходы на КО (УК/ИК).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6:notes"/>
          <p:cNvSpPr txBox="1"/>
          <p:nvPr>
            <p:ph idx="12" type="sldNum"/>
          </p:nvPr>
        </p:nvSpPr>
        <p:spPr>
          <a:xfrm>
            <a:off x="3848650" y="9408986"/>
            <a:ext cx="2944283" cy="4953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f73ffa0c65_0_892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f73ffa0c65_0_892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f73ffa0c65_0_892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748bd88aa_0_57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f748bd88aa_0_57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f748bd88aa_0_57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f73ffa0c65_0_99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f73ffa0c65_0_99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f73ffa0c65_0_99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f73ffa0c65_0_901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f73ffa0c65_0_901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g3f73ffa0c65_0_901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9:notes"/>
          <p:cNvSpPr txBox="1"/>
          <p:nvPr>
            <p:ph idx="1" type="body"/>
          </p:nvPr>
        </p:nvSpPr>
        <p:spPr>
          <a:xfrm>
            <a:off x="679450" y="4705355"/>
            <a:ext cx="5435600" cy="4457701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9:notes"/>
          <p:cNvSpPr/>
          <p:nvPr>
            <p:ph idx="2" type="sldImg"/>
          </p:nvPr>
        </p:nvSpPr>
        <p:spPr>
          <a:xfrm>
            <a:off x="95250" y="742950"/>
            <a:ext cx="6604000" cy="3714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f74450dabd_7_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g3f74450dabd_7_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8" name="Google Shape;848;g3f74450dabd_7_0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f74450dabd_7_1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" name="Google Shape;857;g3f74450dabd_7_1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Данный слайд и слайд «Соответствие решения целевой корпоративной архитектуре» должны содержать идентичный набор  ИТ-систем.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Данный слайд и слайд «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Модель функций и потоков данных</a:t>
            </a: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» должны содержать идентичный набор ИТ-решений.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Наименование элементов должно указываться на основе данных ЕСИС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Все новые элементы данного слайда, включая СПО, должны пройти апробацию (внесены в «Реестр апробированных ИТ-решений»), проверку ИБ, оценку ИЗИТАТ.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Если присутствует СПО, являющееся компонентом коробочного решения от вендора, на данном слайде делается сноска с информацией об этом, и этот компонент не указывается отдельной строкой на слайде «Лицензирование»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Колонка «Системная платформа» зарезервирована для дополнительных компонентов системы, не вошедших в следующие типы: «СУБД», «ОС», «АРМ». Например, «Web-сервер»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Используйте несколько строк для одной системы, если ее компоненты не покрываются одной строкой. В частности, для указания платформ, используемых не только на серверах, но и на клиентском рабочем месте.</a:t>
            </a:r>
            <a:endParaRPr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Цвет фона ячеек указывает на «Степень санкционности» элемента согласно легенде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«Степень санкционности» для каждого элемента, за исключением «ИТ-решения», определяется независимо и на основе данных КСУ НСИ ЕСИС, «</a:t>
            </a:r>
            <a:r>
              <a:rPr i="0" lang="ru-RU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Реестра апробированных ИТ-Решений</a:t>
            </a: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» и </a:t>
            </a:r>
            <a:r>
              <a:rPr i="0" lang="ru-RU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«Реестра Российского ПО</a:t>
            </a: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r>
              <a:rPr i="1" lang="ru-RU" sz="12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(Внешняя ссылка. Не работает в КСПД.)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Цвет фона ячеек для колонки «ИТ- решение» - это интегральный показатель «Степени санкционности» составляющих его элементов (ИТ систем, платформ и т.д.), определяется согласно легенде в нижней части слайда.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Для лучшей читаемости допустимо объединение соседних ячеек «As Is» и “To Be”, если информация и цвет фона в них идентичный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Для лучшей читаемости новые решения, которые не имеют состояние «As Is» можно использовать упрощенную таблицу.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«СПО» является сокращением термина «Свободное программное обеспечение с открытым исходным кодом», который определён в КТ-314.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случае, если планируется или ведётся собственная разработка ПО: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В поле комментарий указывается «Собственная разработка»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в карточке ИТ-системы ЕСИС в поле производителя указывается ПАО ГПН или ДО ГПН, страна Россия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при планировании включения ПО в реестр РПО в системе ЕСАИН для ИТ-системы указывается статус заявления «Планируется»</a:t>
            </a:r>
            <a:endParaRPr/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в случае, если заявление на включение ПО в РРПО направлено в МинЦифРаз РФ, то в системе ЕСАИН для ИТ-системы указывается статус заявления «Подано»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Информация по оборудованию и ИТ-инфраструктуре заполняется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либо в подобной таблице с набором необходимых колонок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i="0"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либо на матрице ИЗИТАТ последней утвержденной версии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f74450dabd_7_30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g3f74450dabd_7_30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latin typeface="Calibri"/>
                <a:ea typeface="Calibri"/>
                <a:cs typeface="Calibri"/>
                <a:sym typeface="Calibri"/>
              </a:rPr>
              <a:t>Информация на слайде используется для экспертизы состава необходимых вычислительных мощностей и оценки их стоимости (по имеющимся тарифам)</a:t>
            </a:r>
            <a:endParaRPr i="0" sz="12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Для каждого из необходимых ландшафтов (Продуктивный, Предпрод, Тестирования, Разработки) оформляется отдельная таблица с указанием типа ландшафта в заголовке слайда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заголовке указывайте вид архитектуры: “требования к целевой” или “требования к транзитной” архитектуре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Строки в таблицах группируются по ИТ системам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Начало строк для каждой новой ИТ системы отделяется заголовочной строкой в таблице с указанием названия ИТ системы</a:t>
            </a:r>
            <a:endParaRPr i="0" sz="12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Если один и тот же сервер используется для нескольких систем, то сервер указывается во всех системах. Во втором, и последующих случаях делаем сноску, где ссылаемся, на первую систему. Например, «Используется сервер, учтенный в Системе А под № 2»</a:t>
            </a:r>
            <a:endParaRPr i="0" sz="12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На слайде используются все (и только) ИТ системы, упомянутые на слайде «Соответствие решения целевой корпоративной архитектуре»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слайде используются только компоненты (ОС, общесистемное и прикладное ПО), упомянутые на слайде «Используемые технологий и ИТ-продукты. Критичность импортозависимых решений», за исключением OC для Namespace.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столбце «Тип и платформа» указывается тип сервера (виртуальный/физический) и платформа для размещения (инфраструктура КЦ ГПН, IaaS, локальная инфраструктура ДО) с учетом сегмента (КСПД / ТСПД /  CDMZ / Internet)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столбце «Новый/существующий» указывается необходимость создания нового сервера либо изменения характеристик существующего. При значении «Новый» указываются требования к вычислительным характеристикам нового сервера; при значении «Существующий» указываются целевые характеристики существующего сервера, при этом в скобках указываются существующие вычислительные характеристики. Например, текущий объем RAM (Гб) составляет 8, в рамках проекта требуется увеличение до  16 Гб. В этом случае значение ячейки указывается в виде 16 (8) </a:t>
            </a:r>
            <a:endParaRPr i="0" sz="12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столбце «Новый/существующий</a:t>
            </a: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кластера, то указывается «Да». Иначе укажите «Нет».</a:t>
            </a:r>
            <a:endParaRPr i="0" sz="12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В столбце “Дисковая подсистема” возможно указание Tier0/Tier1/Tier2 для КЦ и Gold/Silver/» для</a:t>
            </a:r>
            <a:r>
              <a:rPr i="1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i="0" lang="ru-RU" sz="1200"/>
              <a:t>существующих объектов (серверов/неймспейсов) необходимо указывать действующие идентификаторы (имена).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Narrow"/>
              <a:buAutoNum type="arabicPeriod"/>
            </a:pP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Если объект создается в другом проекте и не имеет имени, то это “новый” объект. В сноске к слайду необходимо указать данные проекта, в котором он создается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столбце “Кол-во” (Количество) указать количество серверов с заданными в строке характеристиками. </a:t>
            </a:r>
            <a:endParaRPr i="0" sz="12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столбце “Кластер” в случае, если «Кол-во» серверов больше одного и на их основе необходима организация </a:t>
            </a:r>
            <a:r>
              <a:rPr i="0" lang="ru-RU" sz="12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Bronze для IaaS</a:t>
            </a:r>
            <a:endParaRPr i="0" sz="12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ru-RU" sz="1200">
                <a:latin typeface="Calibri"/>
                <a:ea typeface="Calibri"/>
                <a:cs typeface="Calibri"/>
                <a:sym typeface="Calibri"/>
              </a:rPr>
              <a:t>Если в стлобце “Тип и платформа” указан вариант CaaS, то:</a:t>
            </a:r>
            <a:endParaRPr i="0" sz="12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ru-RU" sz="1200">
                <a:latin typeface="Calibri"/>
                <a:ea typeface="Calibri"/>
                <a:cs typeface="Calibri"/>
                <a:sym typeface="Calibri"/>
              </a:rPr>
              <a:t>Указывается название Namespace. Причем для нового Namespace имя равно названию рабочей области проекта.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ru-RU" sz="1200">
                <a:latin typeface="Calibri"/>
                <a:ea typeface="Calibri"/>
                <a:cs typeface="Calibri"/>
                <a:sym typeface="Calibri"/>
              </a:rPr>
              <a:t>Запрашиваются требуемые вычислительные ресурсы на Namespace-ы платформы контейнеризации (без деления на контейнеры).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AutoNum type="alphaLcPeriod"/>
            </a:pPr>
            <a:r>
              <a:rPr lang="ru-RU" sz="800">
                <a:latin typeface="Calibri"/>
                <a:ea typeface="Calibri"/>
                <a:cs typeface="Calibri"/>
                <a:sym typeface="Calibri"/>
              </a:rPr>
              <a:t>Поскольку ОС не влияет на заказ NameSpace, то ее имя в столбце “ОС, общесистименое и прикладное ПО” указывать не обязательно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0" sz="12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74450dabd_7_38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g3f74450dabd_7_38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3f73ffa0c65_0_798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3f73ffa0c65_0_798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g3f73ffa0c65_0_798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3f74450dabd_1_12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3f74450dabd_1_12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g3f74450dabd_1_12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3f753d40b9e_1_5:notes"/>
          <p:cNvSpPr/>
          <p:nvPr>
            <p:ph idx="2" type="sldImg"/>
          </p:nvPr>
        </p:nvSpPr>
        <p:spPr>
          <a:xfrm>
            <a:off x="95250" y="742950"/>
            <a:ext cx="6603900" cy="371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3f753d40b9e_1_5:notes"/>
          <p:cNvSpPr txBox="1"/>
          <p:nvPr>
            <p:ph idx="1" type="body"/>
          </p:nvPr>
        </p:nvSpPr>
        <p:spPr>
          <a:xfrm>
            <a:off x="679450" y="4705355"/>
            <a:ext cx="5435700" cy="4457700"/>
          </a:xfrm>
          <a:prstGeom prst="rect">
            <a:avLst/>
          </a:prstGeom>
        </p:spPr>
        <p:txBody>
          <a:bodyPr anchorCtr="0" anchor="t" bIns="45625" lIns="91250" spcFirstLastPara="1" rIns="91250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g3f753d40b9e_1_5:notes"/>
          <p:cNvSpPr txBox="1"/>
          <p:nvPr>
            <p:ph idx="12" type="sldNum"/>
          </p:nvPr>
        </p:nvSpPr>
        <p:spPr>
          <a:xfrm>
            <a:off x="3848650" y="9408986"/>
            <a:ext cx="2944200" cy="495300"/>
          </a:xfrm>
          <a:prstGeom prst="rect">
            <a:avLst/>
          </a:prstGeom>
        </p:spPr>
        <p:txBody>
          <a:bodyPr anchorCtr="0" anchor="b" bIns="45625" lIns="91250" spcFirstLastPara="1" rIns="91250" wrap="square" tIns="45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кластерами (основной вариант)">
  <p:cSld name="Титульный с кластерами (основной вариант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/>
          <p:nvPr/>
        </p:nvSpPr>
        <p:spPr>
          <a:xfrm>
            <a:off x="10425325" y="6213849"/>
            <a:ext cx="1525941" cy="408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1" y="762"/>
            <a:ext cx="11396813" cy="641329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6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6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6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6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6" type="body"/>
          </p:nvPr>
        </p:nvSpPr>
        <p:spPr>
          <a:xfrm>
            <a:off x="5101805" y="5174964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7" type="body"/>
          </p:nvPr>
        </p:nvSpPr>
        <p:spPr>
          <a:xfrm>
            <a:off x="5101805" y="6360442"/>
            <a:ext cx="2718197" cy="10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8" type="body"/>
          </p:nvPr>
        </p:nvSpPr>
        <p:spPr>
          <a:xfrm>
            <a:off x="5101805" y="5329451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6"/>
          <p:cNvSpPr txBox="1"/>
          <p:nvPr>
            <p:ph idx="9" type="body"/>
          </p:nvPr>
        </p:nvSpPr>
        <p:spPr>
          <a:xfrm>
            <a:off x="5101805" y="5487988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6"/>
          <p:cNvSpPr/>
          <p:nvPr/>
        </p:nvSpPr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 Заголовок 1 строка">
  <p:cSld name="Пустой слайд Заголовок 1 строка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724421" y="6307809"/>
            <a:ext cx="32220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27" name="Google Shape;27;p17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7"/>
          <p:cNvSpPr txBox="1"/>
          <p:nvPr>
            <p:ph idx="2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showMasterSp="0">
  <p:cSld name="Пустой слайд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2 модуля">
  <p:cSld name="1_2 модуля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241420" y="284532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9083675" y="277311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фото">
  <p:cSld name="Титульный с фото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0"/>
          <p:cNvPicPr preferRelativeResize="0"/>
          <p:nvPr/>
        </p:nvPicPr>
        <p:blipFill rotWithShape="1">
          <a:blip r:embed="rId2">
            <a:alphaModFix/>
          </a:blip>
          <a:srcRect b="0" l="0" r="0" t="-1"/>
          <a:stretch/>
        </p:blipFill>
        <p:spPr>
          <a:xfrm>
            <a:off x="-6368" y="761"/>
            <a:ext cx="9939600" cy="485726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0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0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0"/>
          <p:cNvSpPr txBox="1"/>
          <p:nvPr>
            <p:ph idx="6" type="body"/>
          </p:nvPr>
        </p:nvSpPr>
        <p:spPr>
          <a:xfrm>
            <a:off x="5101805" y="5174964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0"/>
          <p:cNvSpPr txBox="1"/>
          <p:nvPr>
            <p:ph idx="7" type="body"/>
          </p:nvPr>
        </p:nvSpPr>
        <p:spPr>
          <a:xfrm>
            <a:off x="5101805" y="6360442"/>
            <a:ext cx="2718197" cy="10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20"/>
          <p:cNvSpPr txBox="1"/>
          <p:nvPr>
            <p:ph idx="8" type="body"/>
          </p:nvPr>
        </p:nvSpPr>
        <p:spPr>
          <a:xfrm>
            <a:off x="5101805" y="5329451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20"/>
          <p:cNvSpPr txBox="1"/>
          <p:nvPr>
            <p:ph idx="9" type="body"/>
          </p:nvPr>
        </p:nvSpPr>
        <p:spPr>
          <a:xfrm>
            <a:off x="5101805" y="5487988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7" name="Google Shape;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устой слайд" showMasterSp="0">
  <p:cSld name="1_Пустой слайд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724421" y="6307809"/>
            <a:ext cx="32220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0" name="Google Shape;50;p21"/>
          <p:cNvSpPr txBox="1"/>
          <p:nvPr>
            <p:ph type="title"/>
          </p:nvPr>
        </p:nvSpPr>
        <p:spPr>
          <a:xfrm>
            <a:off x="241420" y="286257"/>
            <a:ext cx="11615618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визой руководителя и графикой">
  <p:cSld name="Титульный с визой руководителя и графикой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/>
          <p:nvPr/>
        </p:nvSpPr>
        <p:spPr>
          <a:xfrm>
            <a:off x="10425325" y="6213849"/>
            <a:ext cx="1525941" cy="408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1" y="762"/>
            <a:ext cx="11396813" cy="641329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2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22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2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2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2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0" name="Google Shape;60;p22"/>
          <p:cNvCxnSpPr/>
          <p:nvPr/>
        </p:nvCxnSpPr>
        <p:spPr>
          <a:xfrm>
            <a:off x="5101805" y="6324637"/>
            <a:ext cx="1785938" cy="0"/>
          </a:xfrm>
          <a:prstGeom prst="straightConnector1">
            <a:avLst/>
          </a:prstGeom>
          <a:noFill/>
          <a:ln cap="flat" cmpd="sng" w="12700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22"/>
          <p:cNvSpPr txBox="1"/>
          <p:nvPr>
            <p:ph idx="6" type="body"/>
          </p:nvPr>
        </p:nvSpPr>
        <p:spPr>
          <a:xfrm>
            <a:off x="5101805" y="5174964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2"/>
          <p:cNvSpPr txBox="1"/>
          <p:nvPr>
            <p:ph idx="7" type="body"/>
          </p:nvPr>
        </p:nvSpPr>
        <p:spPr>
          <a:xfrm>
            <a:off x="5101805" y="6360442"/>
            <a:ext cx="2718197" cy="10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2"/>
          <p:cNvSpPr txBox="1"/>
          <p:nvPr>
            <p:ph idx="8" type="body"/>
          </p:nvPr>
        </p:nvSpPr>
        <p:spPr>
          <a:xfrm>
            <a:off x="5101805" y="5329451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2"/>
          <p:cNvSpPr txBox="1"/>
          <p:nvPr>
            <p:ph idx="9" type="body"/>
          </p:nvPr>
        </p:nvSpPr>
        <p:spPr>
          <a:xfrm>
            <a:off x="5101805" y="5487988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2"/>
          <p:cNvSpPr/>
          <p:nvPr/>
        </p:nvSpPr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кластерами">
  <p:cSld name="Титульный с кластерами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/>
          <p:nvPr/>
        </p:nvSpPr>
        <p:spPr>
          <a:xfrm>
            <a:off x="10425325" y="6213849"/>
            <a:ext cx="1525941" cy="408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3"/>
          <p:cNvPicPr preferRelativeResize="0"/>
          <p:nvPr/>
        </p:nvPicPr>
        <p:blipFill rotWithShape="1">
          <a:blip r:embed="rId2">
            <a:alphaModFix/>
          </a:blip>
          <a:srcRect b="0" l="0" r="0" t="-1"/>
          <a:stretch/>
        </p:blipFill>
        <p:spPr>
          <a:xfrm>
            <a:off x="3201" y="762"/>
            <a:ext cx="9931374" cy="48532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3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23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23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3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3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23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23"/>
          <p:cNvSpPr/>
          <p:nvPr/>
        </p:nvSpPr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кластерами и визой руководителя">
  <p:cSld name="Титульный с кластерами и визой руководителя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/>
          <p:nvPr/>
        </p:nvSpPr>
        <p:spPr>
          <a:xfrm>
            <a:off x="10425325" y="6213849"/>
            <a:ext cx="1525941" cy="408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4"/>
          <p:cNvPicPr preferRelativeResize="0"/>
          <p:nvPr/>
        </p:nvPicPr>
        <p:blipFill rotWithShape="1">
          <a:blip r:embed="rId2">
            <a:alphaModFix/>
          </a:blip>
          <a:srcRect b="0" l="0" r="0" t="-1"/>
          <a:stretch/>
        </p:blipFill>
        <p:spPr>
          <a:xfrm>
            <a:off x="-6368" y="761"/>
            <a:ext cx="9939600" cy="485726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4"/>
          <p:cNvSpPr txBox="1"/>
          <p:nvPr>
            <p:ph type="ctrTitle"/>
          </p:nvPr>
        </p:nvSpPr>
        <p:spPr>
          <a:xfrm>
            <a:off x="5086561" y="3469021"/>
            <a:ext cx="6335712" cy="873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360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06F6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706F6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24"/>
          <p:cNvSpPr txBox="1"/>
          <p:nvPr>
            <p:ph idx="1" type="subTitle"/>
          </p:nvPr>
        </p:nvSpPr>
        <p:spPr>
          <a:xfrm>
            <a:off x="256510" y="6213849"/>
            <a:ext cx="345956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4"/>
          <p:cNvSpPr txBox="1"/>
          <p:nvPr>
            <p:ph idx="2" type="body"/>
          </p:nvPr>
        </p:nvSpPr>
        <p:spPr>
          <a:xfrm>
            <a:off x="286656" y="5760621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4"/>
          <p:cNvSpPr txBox="1"/>
          <p:nvPr>
            <p:ph idx="3" type="body"/>
          </p:nvPr>
        </p:nvSpPr>
        <p:spPr>
          <a:xfrm>
            <a:off x="286656" y="5590538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24"/>
          <p:cNvSpPr txBox="1"/>
          <p:nvPr>
            <p:ph idx="4" type="body"/>
          </p:nvPr>
        </p:nvSpPr>
        <p:spPr>
          <a:xfrm>
            <a:off x="286656" y="5201002"/>
            <a:ext cx="3459568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4"/>
          <p:cNvSpPr txBox="1"/>
          <p:nvPr>
            <p:ph idx="5" type="body"/>
          </p:nvPr>
        </p:nvSpPr>
        <p:spPr>
          <a:xfrm>
            <a:off x="256114" y="6380539"/>
            <a:ext cx="3459956" cy="1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5" name="Google Shape;85;p24"/>
          <p:cNvCxnSpPr/>
          <p:nvPr/>
        </p:nvCxnSpPr>
        <p:spPr>
          <a:xfrm>
            <a:off x="5101805" y="6324637"/>
            <a:ext cx="1785938" cy="0"/>
          </a:xfrm>
          <a:prstGeom prst="straightConnector1">
            <a:avLst/>
          </a:prstGeom>
          <a:noFill/>
          <a:ln cap="flat" cmpd="sng" w="12700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4"/>
          <p:cNvSpPr txBox="1"/>
          <p:nvPr>
            <p:ph idx="6" type="body"/>
          </p:nvPr>
        </p:nvSpPr>
        <p:spPr>
          <a:xfrm>
            <a:off x="5101805" y="5174964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7" type="body"/>
          </p:nvPr>
        </p:nvSpPr>
        <p:spPr>
          <a:xfrm>
            <a:off x="5101805" y="6360442"/>
            <a:ext cx="2718197" cy="107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8" type="body"/>
          </p:nvPr>
        </p:nvSpPr>
        <p:spPr>
          <a:xfrm>
            <a:off x="5101805" y="5329451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9" type="body"/>
          </p:nvPr>
        </p:nvSpPr>
        <p:spPr>
          <a:xfrm>
            <a:off x="5101805" y="5487988"/>
            <a:ext cx="2718197" cy="11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4"/>
          <p:cNvSpPr/>
          <p:nvPr/>
        </p:nvSpPr>
        <p:spPr>
          <a:xfrm>
            <a:off x="10199819" y="5722601"/>
            <a:ext cx="1893991" cy="103854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1 строка">
  <p:cSld name="Разделительный 1 строка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321804" y="2317373"/>
            <a:ext cx="1428751" cy="352425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000" spcFirstLastPara="1" rIns="36000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body"/>
          </p:nvPr>
        </p:nvSpPr>
        <p:spPr>
          <a:xfrm>
            <a:off x="321804" y="4087211"/>
            <a:ext cx="3469146" cy="215468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3" type="body"/>
          </p:nvPr>
        </p:nvSpPr>
        <p:spPr>
          <a:xfrm>
            <a:off x="321803" y="3093668"/>
            <a:ext cx="10920819" cy="472112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000" spcFirstLastPara="1" rIns="36000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  <a:defRPr b="0" i="0" sz="4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5" name="Google Shape;95;p25"/>
          <p:cNvCxnSpPr/>
          <p:nvPr/>
        </p:nvCxnSpPr>
        <p:spPr>
          <a:xfrm>
            <a:off x="335967" y="2961043"/>
            <a:ext cx="675871" cy="0"/>
          </a:xfrm>
          <a:prstGeom prst="straightConnector1">
            <a:avLst/>
          </a:prstGeom>
          <a:noFill/>
          <a:ln cap="flat" cmpd="sng" w="5715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25"/>
          <p:cNvCxnSpPr/>
          <p:nvPr/>
        </p:nvCxnSpPr>
        <p:spPr>
          <a:xfrm>
            <a:off x="335967" y="3698405"/>
            <a:ext cx="675871" cy="0"/>
          </a:xfrm>
          <a:prstGeom prst="straightConnector1">
            <a:avLst/>
          </a:prstGeom>
          <a:noFill/>
          <a:ln cap="flat" cmpd="sng" w="5715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нтакты">
  <p:cSld name="Контакты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321804" y="4087211"/>
            <a:ext cx="3469146" cy="215468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2" type="body"/>
          </p:nvPr>
        </p:nvSpPr>
        <p:spPr>
          <a:xfrm>
            <a:off x="321803" y="3093668"/>
            <a:ext cx="10920819" cy="472112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000" spcFirstLastPara="1" rIns="36000" wrap="square" tIns="45700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  <a:defRPr b="0" i="0" sz="40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0" name="Google Shape;100;p26"/>
          <p:cNvCxnSpPr/>
          <p:nvPr/>
        </p:nvCxnSpPr>
        <p:spPr>
          <a:xfrm>
            <a:off x="335967" y="2961043"/>
            <a:ext cx="675871" cy="0"/>
          </a:xfrm>
          <a:prstGeom prst="straightConnector1">
            <a:avLst/>
          </a:prstGeom>
          <a:noFill/>
          <a:ln cap="flat" cmpd="sng" w="5715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6"/>
          <p:cNvCxnSpPr/>
          <p:nvPr/>
        </p:nvCxnSpPr>
        <p:spPr>
          <a:xfrm>
            <a:off x="335967" y="3698405"/>
            <a:ext cx="675871" cy="0"/>
          </a:xfrm>
          <a:prstGeom prst="straightConnector1">
            <a:avLst/>
          </a:prstGeom>
          <a:noFill/>
          <a:ln cap="flat" cmpd="sng" w="5715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6"/>
          <p:cNvSpPr txBox="1"/>
          <p:nvPr>
            <p:ph idx="3" type="body"/>
          </p:nvPr>
        </p:nvSpPr>
        <p:spPr>
          <a:xfrm>
            <a:off x="275714" y="4821334"/>
            <a:ext cx="5071470" cy="108000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idx="4" type="body"/>
          </p:nvPr>
        </p:nvSpPr>
        <p:spPr>
          <a:xfrm>
            <a:off x="265666" y="5332353"/>
            <a:ext cx="5071470" cy="108000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idx="5" type="body"/>
          </p:nvPr>
        </p:nvSpPr>
        <p:spPr>
          <a:xfrm>
            <a:off x="277394" y="5594871"/>
            <a:ext cx="5071470" cy="28441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6"/>
          <p:cNvSpPr txBox="1"/>
          <p:nvPr>
            <p:ph idx="6" type="body"/>
          </p:nvPr>
        </p:nvSpPr>
        <p:spPr>
          <a:xfrm>
            <a:off x="276801" y="5062724"/>
            <a:ext cx="4610427" cy="108000"/>
          </a:xfrm>
          <a:prstGeom prst="rect">
            <a:avLst/>
          </a:prstGeom>
          <a:noFill/>
          <a:ln cap="flat" cmpd="sng" w="9525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внимание">
  <p:cSld name="Спасибо за внимание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модуля">
  <p:cSld name="2 модуля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/>
          <p:nvPr/>
        </p:nvSpPr>
        <p:spPr>
          <a:xfrm>
            <a:off x="6166246" y="1776391"/>
            <a:ext cx="569079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8"/>
          <p:cNvSpPr/>
          <p:nvPr/>
        </p:nvSpPr>
        <p:spPr>
          <a:xfrm>
            <a:off x="6166246" y="1128391"/>
            <a:ext cx="569079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6222796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8"/>
          <p:cNvSpPr txBox="1"/>
          <p:nvPr>
            <p:ph idx="2" type="body"/>
          </p:nvPr>
        </p:nvSpPr>
        <p:spPr>
          <a:xfrm>
            <a:off x="6222796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8"/>
          <p:cNvSpPr txBox="1"/>
          <p:nvPr>
            <p:ph idx="3" type="body"/>
          </p:nvPr>
        </p:nvSpPr>
        <p:spPr>
          <a:xfrm>
            <a:off x="6178222" y="1128713"/>
            <a:ext cx="5675404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8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4" name="Google Shape;114;p28"/>
          <p:cNvSpPr/>
          <p:nvPr/>
        </p:nvSpPr>
        <p:spPr>
          <a:xfrm>
            <a:off x="334963" y="1780914"/>
            <a:ext cx="569079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8"/>
          <p:cNvSpPr/>
          <p:nvPr/>
        </p:nvSpPr>
        <p:spPr>
          <a:xfrm>
            <a:off x="334963" y="1132915"/>
            <a:ext cx="569079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8"/>
          <p:cNvSpPr txBox="1"/>
          <p:nvPr>
            <p:ph idx="4" type="body"/>
          </p:nvPr>
        </p:nvSpPr>
        <p:spPr>
          <a:xfrm>
            <a:off x="391513" y="1850193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28"/>
          <p:cNvSpPr txBox="1"/>
          <p:nvPr>
            <p:ph idx="5" type="body"/>
          </p:nvPr>
        </p:nvSpPr>
        <p:spPr>
          <a:xfrm>
            <a:off x="391513" y="2141751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8"/>
          <p:cNvSpPr txBox="1"/>
          <p:nvPr>
            <p:ph idx="6" type="body"/>
          </p:nvPr>
        </p:nvSpPr>
        <p:spPr>
          <a:xfrm>
            <a:off x="346939" y="1133237"/>
            <a:ext cx="5675404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8"/>
          <p:cNvSpPr txBox="1"/>
          <p:nvPr>
            <p:ph idx="7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8"/>
          <p:cNvSpPr txBox="1"/>
          <p:nvPr>
            <p:ph idx="8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модуля">
  <p:cSld name="3 модуля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/>
          <p:nvPr/>
        </p:nvSpPr>
        <p:spPr>
          <a:xfrm>
            <a:off x="338374" y="1776391"/>
            <a:ext cx="374150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9"/>
          <p:cNvSpPr/>
          <p:nvPr/>
        </p:nvSpPr>
        <p:spPr>
          <a:xfrm>
            <a:off x="338374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94923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2" type="body"/>
          </p:nvPr>
        </p:nvSpPr>
        <p:spPr>
          <a:xfrm>
            <a:off x="394923" y="2137226"/>
            <a:ext cx="3576606" cy="4059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9"/>
          <p:cNvSpPr txBox="1"/>
          <p:nvPr>
            <p:ph idx="3" type="body"/>
          </p:nvPr>
        </p:nvSpPr>
        <p:spPr>
          <a:xfrm>
            <a:off x="338138" y="1128391"/>
            <a:ext cx="3741557" cy="64802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9"/>
          <p:cNvSpPr/>
          <p:nvPr/>
        </p:nvSpPr>
        <p:spPr>
          <a:xfrm>
            <a:off x="4222687" y="1776391"/>
            <a:ext cx="374150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9"/>
          <p:cNvSpPr/>
          <p:nvPr/>
        </p:nvSpPr>
        <p:spPr>
          <a:xfrm>
            <a:off x="4222687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9"/>
          <p:cNvSpPr txBox="1"/>
          <p:nvPr>
            <p:ph idx="4" type="body"/>
          </p:nvPr>
        </p:nvSpPr>
        <p:spPr>
          <a:xfrm>
            <a:off x="4279236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9"/>
          <p:cNvSpPr txBox="1"/>
          <p:nvPr>
            <p:ph idx="5" type="body"/>
          </p:nvPr>
        </p:nvSpPr>
        <p:spPr>
          <a:xfrm>
            <a:off x="4279236" y="2137227"/>
            <a:ext cx="3576606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9"/>
          <p:cNvSpPr txBox="1"/>
          <p:nvPr>
            <p:ph idx="6" type="body"/>
          </p:nvPr>
        </p:nvSpPr>
        <p:spPr>
          <a:xfrm>
            <a:off x="4222451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9"/>
          <p:cNvSpPr/>
          <p:nvPr/>
        </p:nvSpPr>
        <p:spPr>
          <a:xfrm>
            <a:off x="8113478" y="1776391"/>
            <a:ext cx="374150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9"/>
          <p:cNvSpPr/>
          <p:nvPr/>
        </p:nvSpPr>
        <p:spPr>
          <a:xfrm>
            <a:off x="8113478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9"/>
          <p:cNvSpPr txBox="1"/>
          <p:nvPr>
            <p:ph idx="7" type="body"/>
          </p:nvPr>
        </p:nvSpPr>
        <p:spPr>
          <a:xfrm>
            <a:off x="8170027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29"/>
          <p:cNvSpPr txBox="1"/>
          <p:nvPr>
            <p:ph idx="8" type="body"/>
          </p:nvPr>
        </p:nvSpPr>
        <p:spPr>
          <a:xfrm>
            <a:off x="8170027" y="2137227"/>
            <a:ext cx="3576606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29"/>
          <p:cNvSpPr txBox="1"/>
          <p:nvPr>
            <p:ph idx="9" type="body"/>
          </p:nvPr>
        </p:nvSpPr>
        <p:spPr>
          <a:xfrm>
            <a:off x="8113242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9"/>
          <p:cNvSpPr txBox="1"/>
          <p:nvPr>
            <p:ph idx="13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9" name="Google Shape;139;p29"/>
          <p:cNvSpPr txBox="1"/>
          <p:nvPr>
            <p:ph idx="14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модуля">
  <p:cSld name="4 модуля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/>
          <p:nvPr/>
        </p:nvSpPr>
        <p:spPr>
          <a:xfrm>
            <a:off x="338374" y="1776391"/>
            <a:ext cx="276995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338374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394923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30"/>
          <p:cNvSpPr txBox="1"/>
          <p:nvPr>
            <p:ph idx="2" type="body"/>
          </p:nvPr>
        </p:nvSpPr>
        <p:spPr>
          <a:xfrm>
            <a:off x="394923" y="2137227"/>
            <a:ext cx="2647874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30"/>
          <p:cNvSpPr txBox="1"/>
          <p:nvPr>
            <p:ph idx="3" type="body"/>
          </p:nvPr>
        </p:nvSpPr>
        <p:spPr>
          <a:xfrm>
            <a:off x="338139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30"/>
          <p:cNvSpPr/>
          <p:nvPr/>
        </p:nvSpPr>
        <p:spPr>
          <a:xfrm>
            <a:off x="3255662" y="1776391"/>
            <a:ext cx="276995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0"/>
          <p:cNvSpPr/>
          <p:nvPr/>
        </p:nvSpPr>
        <p:spPr>
          <a:xfrm>
            <a:off x="3255662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3312211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30"/>
          <p:cNvSpPr txBox="1"/>
          <p:nvPr>
            <p:ph idx="5" type="body"/>
          </p:nvPr>
        </p:nvSpPr>
        <p:spPr>
          <a:xfrm>
            <a:off x="3312211" y="2137227"/>
            <a:ext cx="2647874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30"/>
          <p:cNvSpPr txBox="1"/>
          <p:nvPr>
            <p:ph idx="6" type="body"/>
          </p:nvPr>
        </p:nvSpPr>
        <p:spPr>
          <a:xfrm>
            <a:off x="3255427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30"/>
          <p:cNvSpPr/>
          <p:nvPr/>
        </p:nvSpPr>
        <p:spPr>
          <a:xfrm>
            <a:off x="6175294" y="1776391"/>
            <a:ext cx="276995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0"/>
          <p:cNvSpPr/>
          <p:nvPr/>
        </p:nvSpPr>
        <p:spPr>
          <a:xfrm>
            <a:off x="6175294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0"/>
          <p:cNvSpPr txBox="1"/>
          <p:nvPr>
            <p:ph idx="7" type="body"/>
          </p:nvPr>
        </p:nvSpPr>
        <p:spPr>
          <a:xfrm>
            <a:off x="6231843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0"/>
          <p:cNvSpPr txBox="1"/>
          <p:nvPr>
            <p:ph idx="8" type="body"/>
          </p:nvPr>
        </p:nvSpPr>
        <p:spPr>
          <a:xfrm>
            <a:off x="6231843" y="2137227"/>
            <a:ext cx="2647874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30"/>
          <p:cNvSpPr txBox="1"/>
          <p:nvPr>
            <p:ph idx="9" type="body"/>
          </p:nvPr>
        </p:nvSpPr>
        <p:spPr>
          <a:xfrm>
            <a:off x="6175059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/>
          <p:nvPr/>
        </p:nvSpPr>
        <p:spPr>
          <a:xfrm>
            <a:off x="9083675" y="1776391"/>
            <a:ext cx="2769951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9083675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0"/>
          <p:cNvSpPr txBox="1"/>
          <p:nvPr>
            <p:ph idx="13" type="body"/>
          </p:nvPr>
        </p:nvSpPr>
        <p:spPr>
          <a:xfrm>
            <a:off x="9140224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14" type="body"/>
          </p:nvPr>
        </p:nvSpPr>
        <p:spPr>
          <a:xfrm>
            <a:off x="9140224" y="2137227"/>
            <a:ext cx="2647874" cy="4059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15" type="body"/>
          </p:nvPr>
        </p:nvSpPr>
        <p:spPr>
          <a:xfrm>
            <a:off x="9083440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16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3" name="Google Shape;163;p30"/>
          <p:cNvSpPr txBox="1"/>
          <p:nvPr>
            <p:ph idx="17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широких модуля">
  <p:cSld name="4 широких модуля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/>
          <p:nvPr/>
        </p:nvSpPr>
        <p:spPr>
          <a:xfrm>
            <a:off x="338374" y="1776391"/>
            <a:ext cx="5684752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1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2" type="body"/>
          </p:nvPr>
        </p:nvSpPr>
        <p:spPr>
          <a:xfrm>
            <a:off x="394923" y="2137228"/>
            <a:ext cx="543421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31"/>
          <p:cNvSpPr/>
          <p:nvPr/>
        </p:nvSpPr>
        <p:spPr>
          <a:xfrm>
            <a:off x="6170865" y="1776391"/>
            <a:ext cx="5684752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1"/>
          <p:cNvSpPr/>
          <p:nvPr/>
        </p:nvSpPr>
        <p:spPr>
          <a:xfrm>
            <a:off x="6170865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1"/>
          <p:cNvSpPr txBox="1"/>
          <p:nvPr>
            <p:ph idx="3" type="body"/>
          </p:nvPr>
        </p:nvSpPr>
        <p:spPr>
          <a:xfrm>
            <a:off x="6227414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idx="4" type="body"/>
          </p:nvPr>
        </p:nvSpPr>
        <p:spPr>
          <a:xfrm>
            <a:off x="6227414" y="2137228"/>
            <a:ext cx="543421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31"/>
          <p:cNvSpPr txBox="1"/>
          <p:nvPr>
            <p:ph idx="5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31"/>
          <p:cNvSpPr txBox="1"/>
          <p:nvPr>
            <p:ph idx="6" type="body"/>
          </p:nvPr>
        </p:nvSpPr>
        <p:spPr>
          <a:xfrm>
            <a:off x="6182839" y="1128713"/>
            <a:ext cx="56707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31"/>
          <p:cNvSpPr/>
          <p:nvPr/>
        </p:nvSpPr>
        <p:spPr>
          <a:xfrm>
            <a:off x="334963" y="4155010"/>
            <a:ext cx="5684752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334963" y="3507010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1"/>
          <p:cNvSpPr txBox="1"/>
          <p:nvPr>
            <p:ph idx="7" type="body"/>
          </p:nvPr>
        </p:nvSpPr>
        <p:spPr>
          <a:xfrm>
            <a:off x="391512" y="4224288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31"/>
          <p:cNvSpPr txBox="1"/>
          <p:nvPr>
            <p:ph idx="8" type="body"/>
          </p:nvPr>
        </p:nvSpPr>
        <p:spPr>
          <a:xfrm>
            <a:off x="391512" y="4515847"/>
            <a:ext cx="543421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6167454" y="4155010"/>
            <a:ext cx="5684752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1"/>
          <p:cNvSpPr/>
          <p:nvPr/>
        </p:nvSpPr>
        <p:spPr>
          <a:xfrm>
            <a:off x="6167454" y="3507010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 txBox="1"/>
          <p:nvPr>
            <p:ph idx="9" type="body"/>
          </p:nvPr>
        </p:nvSpPr>
        <p:spPr>
          <a:xfrm>
            <a:off x="6224003" y="4224288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13" type="body"/>
          </p:nvPr>
        </p:nvSpPr>
        <p:spPr>
          <a:xfrm>
            <a:off x="6224003" y="4515847"/>
            <a:ext cx="543421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31"/>
          <p:cNvSpPr txBox="1"/>
          <p:nvPr>
            <p:ph idx="14" type="body"/>
          </p:nvPr>
        </p:nvSpPr>
        <p:spPr>
          <a:xfrm>
            <a:off x="334727" y="3507332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15" type="body"/>
          </p:nvPr>
        </p:nvSpPr>
        <p:spPr>
          <a:xfrm>
            <a:off x="6179428" y="3507332"/>
            <a:ext cx="56707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31"/>
          <p:cNvSpPr txBox="1"/>
          <p:nvPr>
            <p:ph idx="16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31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7" name="Google Shape;187;p31"/>
          <p:cNvSpPr txBox="1"/>
          <p:nvPr>
            <p:ph idx="17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модулей">
  <p:cSld name="6 модулей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/>
          <p:nvPr/>
        </p:nvSpPr>
        <p:spPr>
          <a:xfrm>
            <a:off x="338374" y="1776391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338374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394923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2"/>
          <p:cNvSpPr txBox="1"/>
          <p:nvPr>
            <p:ph idx="2" type="body"/>
          </p:nvPr>
        </p:nvSpPr>
        <p:spPr>
          <a:xfrm>
            <a:off x="394923" y="2137228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2"/>
          <p:cNvSpPr txBox="1"/>
          <p:nvPr>
            <p:ph idx="3" type="body"/>
          </p:nvPr>
        </p:nvSpPr>
        <p:spPr>
          <a:xfrm>
            <a:off x="338138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32"/>
          <p:cNvSpPr/>
          <p:nvPr/>
        </p:nvSpPr>
        <p:spPr>
          <a:xfrm>
            <a:off x="334963" y="4155010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2"/>
          <p:cNvSpPr/>
          <p:nvPr/>
        </p:nvSpPr>
        <p:spPr>
          <a:xfrm>
            <a:off x="334963" y="3507010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2"/>
          <p:cNvSpPr txBox="1"/>
          <p:nvPr>
            <p:ph idx="4" type="body"/>
          </p:nvPr>
        </p:nvSpPr>
        <p:spPr>
          <a:xfrm>
            <a:off x="391512" y="4224288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2"/>
          <p:cNvSpPr txBox="1"/>
          <p:nvPr>
            <p:ph idx="5" type="body"/>
          </p:nvPr>
        </p:nvSpPr>
        <p:spPr>
          <a:xfrm>
            <a:off x="391512" y="4515847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2"/>
          <p:cNvSpPr txBox="1"/>
          <p:nvPr>
            <p:ph idx="6" type="body"/>
          </p:nvPr>
        </p:nvSpPr>
        <p:spPr>
          <a:xfrm>
            <a:off x="334727" y="3507332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2"/>
          <p:cNvSpPr/>
          <p:nvPr/>
        </p:nvSpPr>
        <p:spPr>
          <a:xfrm>
            <a:off x="4231644" y="1776391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4231644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2"/>
          <p:cNvSpPr txBox="1"/>
          <p:nvPr>
            <p:ph idx="7" type="body"/>
          </p:nvPr>
        </p:nvSpPr>
        <p:spPr>
          <a:xfrm>
            <a:off x="4288193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8" type="body"/>
          </p:nvPr>
        </p:nvSpPr>
        <p:spPr>
          <a:xfrm>
            <a:off x="4288193" y="2137228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9" type="body"/>
          </p:nvPr>
        </p:nvSpPr>
        <p:spPr>
          <a:xfrm>
            <a:off x="4231408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/>
          <p:nvPr/>
        </p:nvSpPr>
        <p:spPr>
          <a:xfrm>
            <a:off x="4228233" y="4155010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4228233" y="3507010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2"/>
          <p:cNvSpPr txBox="1"/>
          <p:nvPr>
            <p:ph idx="13" type="body"/>
          </p:nvPr>
        </p:nvSpPr>
        <p:spPr>
          <a:xfrm>
            <a:off x="4284782" y="4224288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32"/>
          <p:cNvSpPr txBox="1"/>
          <p:nvPr>
            <p:ph idx="14" type="body"/>
          </p:nvPr>
        </p:nvSpPr>
        <p:spPr>
          <a:xfrm>
            <a:off x="4284782" y="4515847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2"/>
          <p:cNvSpPr txBox="1"/>
          <p:nvPr>
            <p:ph idx="15" type="body"/>
          </p:nvPr>
        </p:nvSpPr>
        <p:spPr>
          <a:xfrm>
            <a:off x="4227997" y="3507332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32"/>
          <p:cNvSpPr/>
          <p:nvPr/>
        </p:nvSpPr>
        <p:spPr>
          <a:xfrm>
            <a:off x="8113762" y="1776391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8113762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 txBox="1"/>
          <p:nvPr>
            <p:ph idx="16" type="body"/>
          </p:nvPr>
        </p:nvSpPr>
        <p:spPr>
          <a:xfrm>
            <a:off x="8170311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2"/>
          <p:cNvSpPr txBox="1"/>
          <p:nvPr>
            <p:ph idx="17" type="body"/>
          </p:nvPr>
        </p:nvSpPr>
        <p:spPr>
          <a:xfrm>
            <a:off x="8170311" y="2137228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18" type="body"/>
          </p:nvPr>
        </p:nvSpPr>
        <p:spPr>
          <a:xfrm>
            <a:off x="8113525" y="1128713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32"/>
          <p:cNvSpPr/>
          <p:nvPr/>
        </p:nvSpPr>
        <p:spPr>
          <a:xfrm>
            <a:off x="8110351" y="4155010"/>
            <a:ext cx="374150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8110351" y="3507010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2"/>
          <p:cNvSpPr txBox="1"/>
          <p:nvPr>
            <p:ph idx="19" type="body"/>
          </p:nvPr>
        </p:nvSpPr>
        <p:spPr>
          <a:xfrm>
            <a:off x="8166899" y="4224288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20" type="body"/>
          </p:nvPr>
        </p:nvSpPr>
        <p:spPr>
          <a:xfrm>
            <a:off x="8166899" y="4515847"/>
            <a:ext cx="3576606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21" type="body"/>
          </p:nvPr>
        </p:nvSpPr>
        <p:spPr>
          <a:xfrm>
            <a:off x="8110115" y="3507332"/>
            <a:ext cx="374155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22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1" name="Google Shape;221;p32"/>
          <p:cNvSpPr txBox="1"/>
          <p:nvPr>
            <p:ph idx="23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модулей">
  <p:cSld name="8 модулей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/>
          <p:nvPr/>
        </p:nvSpPr>
        <p:spPr>
          <a:xfrm>
            <a:off x="338374" y="1776391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3"/>
          <p:cNvSpPr/>
          <p:nvPr/>
        </p:nvSpPr>
        <p:spPr>
          <a:xfrm>
            <a:off x="338374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394923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33"/>
          <p:cNvSpPr txBox="1"/>
          <p:nvPr>
            <p:ph idx="2" type="body"/>
          </p:nvPr>
        </p:nvSpPr>
        <p:spPr>
          <a:xfrm>
            <a:off x="394923" y="2137228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3"/>
          <p:cNvSpPr txBox="1"/>
          <p:nvPr>
            <p:ph idx="3" type="body"/>
          </p:nvPr>
        </p:nvSpPr>
        <p:spPr>
          <a:xfrm>
            <a:off x="338139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3"/>
          <p:cNvSpPr/>
          <p:nvPr/>
        </p:nvSpPr>
        <p:spPr>
          <a:xfrm>
            <a:off x="334963" y="4155010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334963" y="3507010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 txBox="1"/>
          <p:nvPr>
            <p:ph idx="4" type="body"/>
          </p:nvPr>
        </p:nvSpPr>
        <p:spPr>
          <a:xfrm>
            <a:off x="391512" y="4224288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5" type="body"/>
          </p:nvPr>
        </p:nvSpPr>
        <p:spPr>
          <a:xfrm>
            <a:off x="391512" y="4515847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6" type="body"/>
          </p:nvPr>
        </p:nvSpPr>
        <p:spPr>
          <a:xfrm>
            <a:off x="334728" y="3507332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3"/>
          <p:cNvSpPr/>
          <p:nvPr/>
        </p:nvSpPr>
        <p:spPr>
          <a:xfrm>
            <a:off x="3251200" y="1776391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3251200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 txBox="1"/>
          <p:nvPr>
            <p:ph idx="7" type="body"/>
          </p:nvPr>
        </p:nvSpPr>
        <p:spPr>
          <a:xfrm>
            <a:off x="3307749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8" type="body"/>
          </p:nvPr>
        </p:nvSpPr>
        <p:spPr>
          <a:xfrm>
            <a:off x="3307749" y="2137228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9" type="body"/>
          </p:nvPr>
        </p:nvSpPr>
        <p:spPr>
          <a:xfrm>
            <a:off x="3250964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3"/>
          <p:cNvSpPr/>
          <p:nvPr/>
        </p:nvSpPr>
        <p:spPr>
          <a:xfrm>
            <a:off x="3247789" y="4155010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3247789" y="3507010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3"/>
          <p:cNvSpPr txBox="1"/>
          <p:nvPr>
            <p:ph idx="13" type="body"/>
          </p:nvPr>
        </p:nvSpPr>
        <p:spPr>
          <a:xfrm>
            <a:off x="3304338" y="4224288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1" name="Google Shape;241;p33"/>
          <p:cNvSpPr txBox="1"/>
          <p:nvPr>
            <p:ph idx="14" type="body"/>
          </p:nvPr>
        </p:nvSpPr>
        <p:spPr>
          <a:xfrm>
            <a:off x="3304338" y="4515847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2" name="Google Shape;242;p33"/>
          <p:cNvSpPr txBox="1"/>
          <p:nvPr>
            <p:ph idx="15" type="body"/>
          </p:nvPr>
        </p:nvSpPr>
        <p:spPr>
          <a:xfrm>
            <a:off x="3247554" y="3507332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3"/>
          <p:cNvSpPr/>
          <p:nvPr/>
        </p:nvSpPr>
        <p:spPr>
          <a:xfrm>
            <a:off x="6174497" y="1776391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3"/>
          <p:cNvSpPr/>
          <p:nvPr/>
        </p:nvSpPr>
        <p:spPr>
          <a:xfrm>
            <a:off x="6174497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3"/>
          <p:cNvSpPr txBox="1"/>
          <p:nvPr>
            <p:ph idx="16" type="body"/>
          </p:nvPr>
        </p:nvSpPr>
        <p:spPr>
          <a:xfrm>
            <a:off x="6231046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3"/>
          <p:cNvSpPr txBox="1"/>
          <p:nvPr>
            <p:ph idx="17" type="body"/>
          </p:nvPr>
        </p:nvSpPr>
        <p:spPr>
          <a:xfrm>
            <a:off x="6231046" y="2137228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7" name="Google Shape;247;p33"/>
          <p:cNvSpPr txBox="1"/>
          <p:nvPr>
            <p:ph idx="18" type="body"/>
          </p:nvPr>
        </p:nvSpPr>
        <p:spPr>
          <a:xfrm>
            <a:off x="6174262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8" name="Google Shape;248;p33"/>
          <p:cNvSpPr/>
          <p:nvPr/>
        </p:nvSpPr>
        <p:spPr>
          <a:xfrm>
            <a:off x="6171086" y="4155010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6171086" y="3507010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3"/>
          <p:cNvSpPr txBox="1"/>
          <p:nvPr>
            <p:ph idx="19" type="body"/>
          </p:nvPr>
        </p:nvSpPr>
        <p:spPr>
          <a:xfrm>
            <a:off x="6227635" y="4224288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20" type="body"/>
          </p:nvPr>
        </p:nvSpPr>
        <p:spPr>
          <a:xfrm>
            <a:off x="6227635" y="4515847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idx="21" type="body"/>
          </p:nvPr>
        </p:nvSpPr>
        <p:spPr>
          <a:xfrm>
            <a:off x="6170851" y="3507332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33"/>
          <p:cNvSpPr/>
          <p:nvPr/>
        </p:nvSpPr>
        <p:spPr>
          <a:xfrm>
            <a:off x="9083869" y="1776391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9083869" y="1128391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3"/>
          <p:cNvSpPr txBox="1"/>
          <p:nvPr>
            <p:ph idx="22" type="body"/>
          </p:nvPr>
        </p:nvSpPr>
        <p:spPr>
          <a:xfrm>
            <a:off x="9140418" y="1845669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23" type="body"/>
          </p:nvPr>
        </p:nvSpPr>
        <p:spPr>
          <a:xfrm>
            <a:off x="9140418" y="2137228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24" type="body"/>
          </p:nvPr>
        </p:nvSpPr>
        <p:spPr>
          <a:xfrm>
            <a:off x="9083634" y="1128713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33"/>
          <p:cNvSpPr/>
          <p:nvPr/>
        </p:nvSpPr>
        <p:spPr>
          <a:xfrm>
            <a:off x="9080458" y="4155010"/>
            <a:ext cx="2769951" cy="157750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9080458" y="3507010"/>
            <a:ext cx="27699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25" type="body"/>
          </p:nvPr>
        </p:nvSpPr>
        <p:spPr>
          <a:xfrm>
            <a:off x="9137007" y="4224288"/>
            <a:ext cx="264787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1" name="Google Shape;261;p33"/>
          <p:cNvSpPr txBox="1"/>
          <p:nvPr>
            <p:ph idx="26" type="body"/>
          </p:nvPr>
        </p:nvSpPr>
        <p:spPr>
          <a:xfrm>
            <a:off x="9137007" y="4515847"/>
            <a:ext cx="2647874" cy="111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idx="27" type="body"/>
          </p:nvPr>
        </p:nvSpPr>
        <p:spPr>
          <a:xfrm>
            <a:off x="9080223" y="3507332"/>
            <a:ext cx="276999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28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5" name="Google Shape;265;p33"/>
          <p:cNvSpPr txBox="1"/>
          <p:nvPr>
            <p:ph idx="29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модуля и вывод">
  <p:cSld name="4 модуля и вывод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/>
          <p:nvPr/>
        </p:nvSpPr>
        <p:spPr>
          <a:xfrm>
            <a:off x="338374" y="1776391"/>
            <a:ext cx="5684752" cy="1268467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34"/>
          <p:cNvSpPr txBox="1"/>
          <p:nvPr>
            <p:ph idx="2" type="body"/>
          </p:nvPr>
        </p:nvSpPr>
        <p:spPr>
          <a:xfrm>
            <a:off x="394923" y="2137227"/>
            <a:ext cx="5434214" cy="78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34"/>
          <p:cNvSpPr/>
          <p:nvPr/>
        </p:nvSpPr>
        <p:spPr>
          <a:xfrm>
            <a:off x="6170865" y="1776391"/>
            <a:ext cx="5684752" cy="1268467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6170865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4"/>
          <p:cNvSpPr txBox="1"/>
          <p:nvPr>
            <p:ph idx="3" type="body"/>
          </p:nvPr>
        </p:nvSpPr>
        <p:spPr>
          <a:xfrm>
            <a:off x="6227414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4" name="Google Shape;274;p34"/>
          <p:cNvSpPr txBox="1"/>
          <p:nvPr>
            <p:ph idx="4" type="body"/>
          </p:nvPr>
        </p:nvSpPr>
        <p:spPr>
          <a:xfrm>
            <a:off x="6227414" y="2137227"/>
            <a:ext cx="5434214" cy="78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34"/>
          <p:cNvSpPr txBox="1"/>
          <p:nvPr>
            <p:ph idx="5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6" type="body"/>
          </p:nvPr>
        </p:nvSpPr>
        <p:spPr>
          <a:xfrm>
            <a:off x="6182839" y="1128713"/>
            <a:ext cx="56707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7" name="Google Shape;277;p34"/>
          <p:cNvSpPr/>
          <p:nvPr/>
        </p:nvSpPr>
        <p:spPr>
          <a:xfrm>
            <a:off x="338374" y="3840863"/>
            <a:ext cx="5684752" cy="1268467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338374" y="3192863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4"/>
          <p:cNvSpPr txBox="1"/>
          <p:nvPr>
            <p:ph idx="7" type="body"/>
          </p:nvPr>
        </p:nvSpPr>
        <p:spPr>
          <a:xfrm>
            <a:off x="394923" y="3910141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8" type="body"/>
          </p:nvPr>
        </p:nvSpPr>
        <p:spPr>
          <a:xfrm>
            <a:off x="394923" y="4201699"/>
            <a:ext cx="5434214" cy="78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1" name="Google Shape;281;p34"/>
          <p:cNvSpPr/>
          <p:nvPr/>
        </p:nvSpPr>
        <p:spPr>
          <a:xfrm>
            <a:off x="6170865" y="3840863"/>
            <a:ext cx="5684752" cy="1268467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6170865" y="3192863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 txBox="1"/>
          <p:nvPr>
            <p:ph idx="9" type="body"/>
          </p:nvPr>
        </p:nvSpPr>
        <p:spPr>
          <a:xfrm>
            <a:off x="6227414" y="3910141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13" type="body"/>
          </p:nvPr>
        </p:nvSpPr>
        <p:spPr>
          <a:xfrm>
            <a:off x="6227414" y="4201699"/>
            <a:ext cx="5434214" cy="78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34"/>
          <p:cNvSpPr txBox="1"/>
          <p:nvPr>
            <p:ph idx="14" type="body"/>
          </p:nvPr>
        </p:nvSpPr>
        <p:spPr>
          <a:xfrm>
            <a:off x="338138" y="3193185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15" type="body"/>
          </p:nvPr>
        </p:nvSpPr>
        <p:spPr>
          <a:xfrm>
            <a:off x="6182839" y="3193185"/>
            <a:ext cx="567078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34"/>
          <p:cNvSpPr/>
          <p:nvPr/>
        </p:nvSpPr>
        <p:spPr>
          <a:xfrm>
            <a:off x="339810" y="5248169"/>
            <a:ext cx="11517227" cy="952756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4"/>
          <p:cNvSpPr txBox="1"/>
          <p:nvPr>
            <p:ph idx="16" type="body"/>
          </p:nvPr>
        </p:nvSpPr>
        <p:spPr>
          <a:xfrm>
            <a:off x="334963" y="5248019"/>
            <a:ext cx="11522075" cy="952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34"/>
          <p:cNvSpPr txBox="1"/>
          <p:nvPr>
            <p:ph idx="17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1" name="Google Shape;291;p34"/>
          <p:cNvSpPr txBox="1"/>
          <p:nvPr>
            <p:ph idx="18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дуль и контент">
  <p:cSld name="Модуль и контент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/>
          <p:nvPr/>
        </p:nvSpPr>
        <p:spPr>
          <a:xfrm>
            <a:off x="338374" y="1776391"/>
            <a:ext cx="5684752" cy="395765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5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35"/>
          <p:cNvSpPr txBox="1"/>
          <p:nvPr>
            <p:ph idx="2" type="body"/>
          </p:nvPr>
        </p:nvSpPr>
        <p:spPr>
          <a:xfrm>
            <a:off x="394923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7" name="Google Shape;297;p35"/>
          <p:cNvSpPr txBox="1"/>
          <p:nvPr>
            <p:ph idx="3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6167536" y="1128391"/>
            <a:ext cx="5629026" cy="459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9" name="Google Shape;299;p35"/>
          <p:cNvSpPr txBox="1"/>
          <p:nvPr>
            <p:ph idx="5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p35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1" name="Google Shape;301;p35"/>
          <p:cNvSpPr txBox="1"/>
          <p:nvPr>
            <p:ph idx="6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дуль и 2 вертикальных контента">
  <p:cSld name="Модуль и 2 вертикальных контента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/>
        </p:nvSpPr>
        <p:spPr>
          <a:xfrm>
            <a:off x="338374" y="1776391"/>
            <a:ext cx="3741501" cy="395765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338374" y="1128391"/>
            <a:ext cx="374150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394923" y="1845669"/>
            <a:ext cx="357660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2" type="body"/>
          </p:nvPr>
        </p:nvSpPr>
        <p:spPr>
          <a:xfrm>
            <a:off x="394923" y="2137227"/>
            <a:ext cx="3576606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36"/>
          <p:cNvSpPr txBox="1"/>
          <p:nvPr>
            <p:ph idx="3" type="body"/>
          </p:nvPr>
        </p:nvSpPr>
        <p:spPr>
          <a:xfrm>
            <a:off x="338139" y="1128713"/>
            <a:ext cx="3736502" cy="647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4" type="body"/>
          </p:nvPr>
        </p:nvSpPr>
        <p:spPr>
          <a:xfrm>
            <a:off x="4229573" y="1128391"/>
            <a:ext cx="3736266" cy="459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36"/>
          <p:cNvSpPr txBox="1"/>
          <p:nvPr>
            <p:ph idx="5" type="body"/>
          </p:nvPr>
        </p:nvSpPr>
        <p:spPr>
          <a:xfrm>
            <a:off x="8118154" y="1128391"/>
            <a:ext cx="3736266" cy="459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36"/>
          <p:cNvSpPr txBox="1"/>
          <p:nvPr>
            <p:ph idx="6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1" name="Google Shape;311;p36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2" name="Google Shape;312;p36"/>
          <p:cNvSpPr txBox="1"/>
          <p:nvPr>
            <p:ph idx="7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дуль и 2 горизонтальных контента">
  <p:cSld name="Модуль и 2 горизонтальных контента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/>
          <p:nvPr/>
        </p:nvSpPr>
        <p:spPr>
          <a:xfrm>
            <a:off x="338374" y="1776391"/>
            <a:ext cx="4713051" cy="395765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338374" y="1128391"/>
            <a:ext cx="4713051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7"/>
          <p:cNvSpPr txBox="1"/>
          <p:nvPr>
            <p:ph idx="1" type="body"/>
          </p:nvPr>
        </p:nvSpPr>
        <p:spPr>
          <a:xfrm>
            <a:off x="394923" y="1845669"/>
            <a:ext cx="4505338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37"/>
          <p:cNvSpPr txBox="1"/>
          <p:nvPr>
            <p:ph idx="2" type="body"/>
          </p:nvPr>
        </p:nvSpPr>
        <p:spPr>
          <a:xfrm>
            <a:off x="394923" y="2137227"/>
            <a:ext cx="4505338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p37"/>
          <p:cNvSpPr txBox="1"/>
          <p:nvPr>
            <p:ph idx="3" type="body"/>
          </p:nvPr>
        </p:nvSpPr>
        <p:spPr>
          <a:xfrm>
            <a:off x="338139" y="1128713"/>
            <a:ext cx="4706754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9" name="Google Shape;319;p37"/>
          <p:cNvSpPr txBox="1"/>
          <p:nvPr>
            <p:ph idx="4" type="body"/>
          </p:nvPr>
        </p:nvSpPr>
        <p:spPr>
          <a:xfrm>
            <a:off x="5195888" y="1133852"/>
            <a:ext cx="6661150" cy="2223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0" name="Google Shape;320;p37"/>
          <p:cNvSpPr txBox="1"/>
          <p:nvPr>
            <p:ph idx="5" type="body"/>
          </p:nvPr>
        </p:nvSpPr>
        <p:spPr>
          <a:xfrm>
            <a:off x="5195888" y="3500437"/>
            <a:ext cx="6661150" cy="2233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6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2" name="Google Shape;322;p37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3" name="Google Shape;323;p37"/>
          <p:cNvSpPr txBox="1"/>
          <p:nvPr>
            <p:ph idx="7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2 строки">
  <p:cSld name="Заголовок 2 строки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8"/>
          <p:cNvSpPr/>
          <p:nvPr/>
        </p:nvSpPr>
        <p:spPr>
          <a:xfrm>
            <a:off x="338374" y="1776391"/>
            <a:ext cx="5684752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8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8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8" name="Google Shape;328;p38"/>
          <p:cNvSpPr txBox="1"/>
          <p:nvPr>
            <p:ph idx="2" type="body"/>
          </p:nvPr>
        </p:nvSpPr>
        <p:spPr>
          <a:xfrm>
            <a:off x="394923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9" name="Google Shape;329;p38"/>
          <p:cNvSpPr/>
          <p:nvPr/>
        </p:nvSpPr>
        <p:spPr>
          <a:xfrm>
            <a:off x="6166247" y="1776391"/>
            <a:ext cx="5684752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166247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 txBox="1"/>
          <p:nvPr>
            <p:ph idx="3" type="body"/>
          </p:nvPr>
        </p:nvSpPr>
        <p:spPr>
          <a:xfrm>
            <a:off x="6222796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2" name="Google Shape;332;p38"/>
          <p:cNvSpPr txBox="1"/>
          <p:nvPr>
            <p:ph idx="4" type="body"/>
          </p:nvPr>
        </p:nvSpPr>
        <p:spPr>
          <a:xfrm>
            <a:off x="6222796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p38"/>
          <p:cNvSpPr txBox="1"/>
          <p:nvPr>
            <p:ph idx="5" type="body"/>
          </p:nvPr>
        </p:nvSpPr>
        <p:spPr>
          <a:xfrm>
            <a:off x="6178221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4" name="Google Shape;334;p38"/>
          <p:cNvSpPr txBox="1"/>
          <p:nvPr>
            <p:ph idx="6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38"/>
          <p:cNvSpPr txBox="1"/>
          <p:nvPr>
            <p:ph idx="7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38"/>
          <p:cNvSpPr txBox="1"/>
          <p:nvPr>
            <p:ph type="title"/>
          </p:nvPr>
        </p:nvSpPr>
        <p:spPr>
          <a:xfrm>
            <a:off x="241420" y="286257"/>
            <a:ext cx="8699380" cy="694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7" name="Google Shape;337;p38"/>
          <p:cNvSpPr txBox="1"/>
          <p:nvPr>
            <p:ph idx="8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3 строки">
  <p:cSld name="Заголовок 3 строки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/>
          <p:nvPr/>
        </p:nvSpPr>
        <p:spPr>
          <a:xfrm>
            <a:off x="338374" y="2100426"/>
            <a:ext cx="5684752" cy="410034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338374" y="1452426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394923" y="2169704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2" name="Google Shape;342;p39"/>
          <p:cNvSpPr txBox="1"/>
          <p:nvPr>
            <p:ph idx="2" type="body"/>
          </p:nvPr>
        </p:nvSpPr>
        <p:spPr>
          <a:xfrm>
            <a:off x="394923" y="2461261"/>
            <a:ext cx="5434214" cy="3600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3" name="Google Shape;343;p39"/>
          <p:cNvSpPr/>
          <p:nvPr/>
        </p:nvSpPr>
        <p:spPr>
          <a:xfrm>
            <a:off x="6166247" y="2100426"/>
            <a:ext cx="5684752" cy="410034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9"/>
          <p:cNvSpPr/>
          <p:nvPr/>
        </p:nvSpPr>
        <p:spPr>
          <a:xfrm>
            <a:off x="6166247" y="1452426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9"/>
          <p:cNvSpPr txBox="1"/>
          <p:nvPr>
            <p:ph idx="3" type="body"/>
          </p:nvPr>
        </p:nvSpPr>
        <p:spPr>
          <a:xfrm>
            <a:off x="6222796" y="2169704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idx="4" type="body"/>
          </p:nvPr>
        </p:nvSpPr>
        <p:spPr>
          <a:xfrm>
            <a:off x="6222796" y="2461261"/>
            <a:ext cx="5434214" cy="3600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5" type="body"/>
          </p:nvPr>
        </p:nvSpPr>
        <p:spPr>
          <a:xfrm>
            <a:off x="6178221" y="1452748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idx="6" type="body"/>
          </p:nvPr>
        </p:nvSpPr>
        <p:spPr>
          <a:xfrm>
            <a:off x="338138" y="1459905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9" name="Google Shape;349;p39"/>
          <p:cNvSpPr txBox="1"/>
          <p:nvPr>
            <p:ph idx="7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39"/>
          <p:cNvSpPr txBox="1"/>
          <p:nvPr>
            <p:ph type="title"/>
          </p:nvPr>
        </p:nvSpPr>
        <p:spPr>
          <a:xfrm>
            <a:off x="241420" y="286257"/>
            <a:ext cx="8699380" cy="115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1" name="Google Shape;351;p39"/>
          <p:cNvSpPr txBox="1"/>
          <p:nvPr>
            <p:ph idx="8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дескриптор">
  <p:cSld name="Заголовок+дескриптор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/>
          <p:nvPr/>
        </p:nvSpPr>
        <p:spPr>
          <a:xfrm>
            <a:off x="338374" y="1776391"/>
            <a:ext cx="5684752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338374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0"/>
          <p:cNvSpPr txBox="1"/>
          <p:nvPr>
            <p:ph idx="1" type="body"/>
          </p:nvPr>
        </p:nvSpPr>
        <p:spPr>
          <a:xfrm>
            <a:off x="394923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6" name="Google Shape;356;p40"/>
          <p:cNvSpPr txBox="1"/>
          <p:nvPr>
            <p:ph idx="2" type="body"/>
          </p:nvPr>
        </p:nvSpPr>
        <p:spPr>
          <a:xfrm>
            <a:off x="394923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7" name="Google Shape;357;p40"/>
          <p:cNvSpPr/>
          <p:nvPr/>
        </p:nvSpPr>
        <p:spPr>
          <a:xfrm>
            <a:off x="6166247" y="1776391"/>
            <a:ext cx="5684752" cy="441986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6166247" y="1128391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0"/>
          <p:cNvSpPr txBox="1"/>
          <p:nvPr>
            <p:ph idx="3" type="body"/>
          </p:nvPr>
        </p:nvSpPr>
        <p:spPr>
          <a:xfrm>
            <a:off x="6222796" y="1845669"/>
            <a:ext cx="5434214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0" name="Google Shape;360;p40"/>
          <p:cNvSpPr txBox="1"/>
          <p:nvPr>
            <p:ph idx="4" type="body"/>
          </p:nvPr>
        </p:nvSpPr>
        <p:spPr>
          <a:xfrm>
            <a:off x="6222796" y="2137227"/>
            <a:ext cx="5434214" cy="34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1" name="Google Shape;361;p40"/>
          <p:cNvSpPr txBox="1"/>
          <p:nvPr>
            <p:ph idx="5" type="body"/>
          </p:nvPr>
        </p:nvSpPr>
        <p:spPr>
          <a:xfrm>
            <a:off x="6178221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2" name="Google Shape;362;p40"/>
          <p:cNvSpPr txBox="1"/>
          <p:nvPr>
            <p:ph idx="6" type="body"/>
          </p:nvPr>
        </p:nvSpPr>
        <p:spPr>
          <a:xfrm>
            <a:off x="340854" y="726981"/>
            <a:ext cx="8599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3" name="Google Shape;363;p40"/>
          <p:cNvSpPr txBox="1"/>
          <p:nvPr>
            <p:ph idx="7" type="body"/>
          </p:nvPr>
        </p:nvSpPr>
        <p:spPr>
          <a:xfrm>
            <a:off x="338138" y="1128713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4" name="Google Shape;364;p40"/>
          <p:cNvSpPr txBox="1"/>
          <p:nvPr>
            <p:ph idx="8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40"/>
          <p:cNvSpPr txBox="1"/>
          <p:nvPr>
            <p:ph type="title"/>
          </p:nvPr>
        </p:nvSpPr>
        <p:spPr>
          <a:xfrm>
            <a:off x="241420" y="286257"/>
            <a:ext cx="8699380" cy="371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6" name="Google Shape;366;p40"/>
          <p:cNvSpPr txBox="1"/>
          <p:nvPr>
            <p:ph idx="9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надзаголовок">
  <p:cSld name="Заголовок+надзаголовок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/>
          <p:nvPr/>
        </p:nvSpPr>
        <p:spPr>
          <a:xfrm>
            <a:off x="338374" y="2100426"/>
            <a:ext cx="5684752" cy="410034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338374" y="1452426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 txBox="1"/>
          <p:nvPr>
            <p:ph idx="1" type="body"/>
          </p:nvPr>
        </p:nvSpPr>
        <p:spPr>
          <a:xfrm>
            <a:off x="394922" y="2169704"/>
            <a:ext cx="5577335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2" type="body"/>
          </p:nvPr>
        </p:nvSpPr>
        <p:spPr>
          <a:xfrm>
            <a:off x="394922" y="2461261"/>
            <a:ext cx="5577335" cy="3600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2" name="Google Shape;372;p41"/>
          <p:cNvSpPr/>
          <p:nvPr/>
        </p:nvSpPr>
        <p:spPr>
          <a:xfrm>
            <a:off x="6166247" y="2100426"/>
            <a:ext cx="5684752" cy="4100349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656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1"/>
          <p:cNvSpPr/>
          <p:nvPr/>
        </p:nvSpPr>
        <p:spPr>
          <a:xfrm>
            <a:off x="6166247" y="1452426"/>
            <a:ext cx="5684752" cy="648000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1"/>
          <p:cNvSpPr txBox="1"/>
          <p:nvPr>
            <p:ph idx="3" type="body"/>
          </p:nvPr>
        </p:nvSpPr>
        <p:spPr>
          <a:xfrm>
            <a:off x="6222796" y="2169704"/>
            <a:ext cx="5574282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▪"/>
              <a:defRPr b="1" i="0" sz="12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4" type="body"/>
          </p:nvPr>
        </p:nvSpPr>
        <p:spPr>
          <a:xfrm>
            <a:off x="6222796" y="2461261"/>
            <a:ext cx="5574282" cy="3600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050"/>
              <a:buFont typeface="Noto Sans Symbols"/>
              <a:buChar char="▪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–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5275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»"/>
              <a:def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idx="5" type="body"/>
          </p:nvPr>
        </p:nvSpPr>
        <p:spPr>
          <a:xfrm>
            <a:off x="6178221" y="1452748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7" name="Google Shape;377;p41"/>
          <p:cNvSpPr txBox="1"/>
          <p:nvPr>
            <p:ph type="title"/>
          </p:nvPr>
        </p:nvSpPr>
        <p:spPr>
          <a:xfrm>
            <a:off x="241420" y="647786"/>
            <a:ext cx="86993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8" name="Google Shape;378;p41"/>
          <p:cNvSpPr txBox="1"/>
          <p:nvPr>
            <p:ph idx="6" type="body"/>
          </p:nvPr>
        </p:nvSpPr>
        <p:spPr>
          <a:xfrm>
            <a:off x="340854" y="1088510"/>
            <a:ext cx="85999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9" name="Google Shape;379;p41"/>
          <p:cNvSpPr txBox="1"/>
          <p:nvPr>
            <p:ph idx="7" type="body"/>
          </p:nvPr>
        </p:nvSpPr>
        <p:spPr>
          <a:xfrm>
            <a:off x="245254" y="277595"/>
            <a:ext cx="8695545" cy="3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  <a:defRPr b="0" i="0" sz="1400" u="none" cap="none" strike="noStrike">
                <a:solidFill>
                  <a:srgbClr val="0045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0" name="Google Shape;380;p41"/>
          <p:cNvSpPr txBox="1"/>
          <p:nvPr>
            <p:ph idx="8" type="body"/>
          </p:nvPr>
        </p:nvSpPr>
        <p:spPr>
          <a:xfrm>
            <a:off x="338138" y="1459905"/>
            <a:ext cx="56848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41"/>
          <p:cNvSpPr txBox="1"/>
          <p:nvPr>
            <p:ph idx="9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41"/>
          <p:cNvSpPr txBox="1"/>
          <p:nvPr>
            <p:ph idx="13" type="body"/>
          </p:nvPr>
        </p:nvSpPr>
        <p:spPr>
          <a:xfrm>
            <a:off x="9083675" y="283135"/>
            <a:ext cx="2862755" cy="6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2"/>
          <p:cNvSpPr txBox="1"/>
          <p:nvPr>
            <p:ph type="title"/>
          </p:nvPr>
        </p:nvSpPr>
        <p:spPr>
          <a:xfrm>
            <a:off x="404292" y="231503"/>
            <a:ext cx="11577186" cy="17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lvl="0" marR="0" rtl="0" algn="l">
              <a:lnSpc>
                <a:spcPct val="68292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50"/>
              <a:buFont typeface="Arial Narrow"/>
              <a:buNone/>
              <a:defRPr b="1" i="0" sz="2050" u="none" cap="none" strike="noStrike">
                <a:solidFill>
                  <a:schemeClr val="accent4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10344472" y="322037"/>
            <a:ext cx="1553667" cy="195918"/>
          </a:xfrm>
          <a:prstGeom prst="rect">
            <a:avLst/>
          </a:prstGeom>
          <a:noFill/>
          <a:ln cap="flat" cmpd="sng" w="9525">
            <a:solidFill>
              <a:srgbClr val="197E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81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title"/>
          </p:nvPr>
        </p:nvSpPr>
        <p:spPr>
          <a:xfrm>
            <a:off x="404292" y="231503"/>
            <a:ext cx="11577186" cy="17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>
            <a:lvl1pPr lvl="0" marR="0" rtl="0" algn="l">
              <a:lnSpc>
                <a:spcPct val="68292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50"/>
              <a:buFont typeface="Arial Narrow"/>
              <a:buNone/>
              <a:defRPr b="1" i="0" sz="2050" u="none" cap="none" strike="noStrike">
                <a:solidFill>
                  <a:schemeClr val="accent4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0" name="Google Shape;390;p44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type="title"/>
          </p:nvPr>
        </p:nvSpPr>
        <p:spPr>
          <a:xfrm>
            <a:off x="241420" y="284532"/>
            <a:ext cx="8699380" cy="41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3" name="Google Shape;393;p45"/>
          <p:cNvSpPr txBox="1"/>
          <p:nvPr>
            <p:ph idx="1" type="body"/>
          </p:nvPr>
        </p:nvSpPr>
        <p:spPr>
          <a:xfrm>
            <a:off x="240777" y="6400222"/>
            <a:ext cx="5724524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10697393" y="6448910"/>
            <a:ext cx="1159645" cy="15143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fld id="{00000000-1234-1234-1234-123412341234}" type="slidenum">
              <a:rPr b="0" i="0" lang="ru-RU" sz="9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8A8A8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hyperlink" Target="https://asklegal.gazprom-neft.local/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73ffa0c65_0_85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00" name="Google Shape;400;g3f73ffa0c65_0_85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f73ffa0c65_0_85"/>
          <p:cNvSpPr txBox="1"/>
          <p:nvPr/>
        </p:nvSpPr>
        <p:spPr>
          <a:xfrm>
            <a:off x="692950" y="2955794"/>
            <a:ext cx="11011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ru-RU" sz="3200">
                <a:solidFill>
                  <a:schemeClr val="lt1"/>
                </a:solidFill>
              </a:rPr>
              <a:t>СМАРТ-ПЛАТФОРМА ПРОСТОР 2.0</a:t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02" name="Google Shape;402;g3f73ffa0c65_0_85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73ffa0c65_0_85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73ffa0c65_0_85"/>
          <p:cNvSpPr txBox="1"/>
          <p:nvPr/>
        </p:nvSpPr>
        <p:spPr>
          <a:xfrm>
            <a:off x="457200" y="5029025"/>
            <a:ext cx="21525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ВЫПОЛНИЛИ</a:t>
            </a:r>
            <a:r>
              <a:rPr b="0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А</a:t>
            </a:r>
            <a:r>
              <a:rPr b="0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ru-RU">
                <a:solidFill>
                  <a:srgbClr val="FFFFFF"/>
                </a:solidFill>
              </a:rPr>
              <a:t>Д</a:t>
            </a:r>
            <a:r>
              <a:rPr b="0" i="0" lang="ru-RU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>
                <a:solidFill>
                  <a:srgbClr val="FFFFFF"/>
                </a:solidFill>
              </a:rPr>
              <a:t>ГАРИФУЛЛИНА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Е.В. САВИН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Т.Г .ШУМИЛОВА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Д.И. АБДРАХМАНОВ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0bedc70bcb8d47_4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11" name="Google Shape;411;g370bedc70bcb8d47_4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70bedc70bcb8d47_4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Дерево требований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13" name="Google Shape;413;g370bedc70bcb8d47_4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70bedc70bcb8d47_4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761e156dd_0_0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f761e156dd_0_0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ДЕРЕВО ТРЕБОВАНИЙ</a:t>
            </a:r>
            <a:endParaRPr b="1" sz="2400">
              <a:solidFill>
                <a:srgbClr val="8A8A8A"/>
              </a:solidFill>
            </a:endParaRPr>
          </a:p>
        </p:txBody>
      </p:sp>
      <p:pic>
        <p:nvPicPr>
          <p:cNvPr id="422" name="Google Shape;422;g3f761e156d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449725"/>
            <a:ext cx="11983813" cy="6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f761e156dd_0_0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70bedc70bcb8d47_13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30" name="Google Shape;430;g370bedc70bcb8d47_13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70bedc70bcb8d47_13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BPMN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32" name="Google Shape;432;g370bedc70bcb8d47_13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70bedc70bcb8d47_13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761e156dd_0_10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440" name="Google Shape;440;g3f761e156dd_0_10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f761e156dd_0_10"/>
          <p:cNvSpPr txBox="1"/>
          <p:nvPr>
            <p:ph idx="2" type="body"/>
          </p:nvPr>
        </p:nvSpPr>
        <p:spPr>
          <a:xfrm>
            <a:off x="9083675" y="283135"/>
            <a:ext cx="2862900" cy="6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2" name="Google Shape;442;g3f761e156dd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3457"/>
            <a:ext cx="11887200" cy="4841158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f761e156dd_0_10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BPMN</a:t>
            </a:r>
            <a:endParaRPr b="1" sz="2400">
              <a:solidFill>
                <a:srgbClr val="8A8A8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70bedc70bcb8d47_22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50" name="Google Shape;450;g370bedc70bcb8d47_22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70bedc70bcb8d47_22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USE CASE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52" name="Google Shape;452;g370bedc70bcb8d47_22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70bedc70bcb8d47_22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761e156dd_0_27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USE CASE. ФОРМИРОВАНИЕ ТЗ</a:t>
            </a:r>
            <a:endParaRPr b="1" sz="2400">
              <a:solidFill>
                <a:srgbClr val="8A8A8A"/>
              </a:solidFill>
            </a:endParaRPr>
          </a:p>
        </p:txBody>
      </p:sp>
      <p:pic>
        <p:nvPicPr>
          <p:cNvPr id="460" name="Google Shape;460;g3f761e156dd_0_27" title="юзкейс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913" y="595100"/>
            <a:ext cx="9986776" cy="58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764502030_1_0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USE CASE. ОПИСАНИЕ</a:t>
            </a:r>
            <a:endParaRPr b="1" sz="2400">
              <a:solidFill>
                <a:srgbClr val="8A8A8A"/>
              </a:solidFill>
            </a:endParaRPr>
          </a:p>
        </p:txBody>
      </p:sp>
      <p:sp>
        <p:nvSpPr>
          <p:cNvPr id="467" name="Google Shape;467;g3f764502030_1_0"/>
          <p:cNvSpPr txBox="1"/>
          <p:nvPr/>
        </p:nvSpPr>
        <p:spPr>
          <a:xfrm>
            <a:off x="156400" y="924050"/>
            <a:ext cx="116745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UC-TZList Просмотр списка созданных ТЗ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Краткое описание: Пользователь просматривает перечень ранее сформированных технических заданий, открывает предпросмотр выбранного документа, при необходимости обращается к истории версий или скачивает файл.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Участники: Пользователи с ролью заказчик / подрядчик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Триггер: Пользователь перешёл в раздел «Мои заявки»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Предусловия: Пользователь авторизован на платформе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В системе сформировано хотя бы одно ТЗ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Критерий успешности: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Отобразился список созданных ТЗ в порядке от новых к старым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По каждому ТЗ отображены услуга, дата создания, тип шаблона, объект работ, процент готовности и количество выявленных рисков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При выборе записи отобразился постраничный предпросмотр документа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Постусловия: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Состав и содержимое ранее созданных ТЗ не изменены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Выбранное ТЗ доступно для скачивания, редактирования и просмотра истории версий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3e9b54e2d_0_26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474" name="Google Shape;474;g3f3e9b54e2d_0_26"/>
          <p:cNvSpPr txBox="1"/>
          <p:nvPr>
            <p:ph type="title"/>
          </p:nvPr>
        </p:nvSpPr>
        <p:spPr>
          <a:xfrm>
            <a:off x="241420" y="286257"/>
            <a:ext cx="8699400" cy="69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3e9b54e2d_0_26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f3e9b54e2d_0_26"/>
          <p:cNvSpPr txBox="1"/>
          <p:nvPr>
            <p:ph idx="2" type="body"/>
          </p:nvPr>
        </p:nvSpPr>
        <p:spPr>
          <a:xfrm>
            <a:off x="9083675" y="283135"/>
            <a:ext cx="2862900" cy="6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3e9b54e2d_0_26"/>
          <p:cNvSpPr txBox="1"/>
          <p:nvPr/>
        </p:nvSpPr>
        <p:spPr>
          <a:xfrm>
            <a:off x="0" y="0"/>
            <a:ext cx="12044100" cy="7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Результат: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Пользователю отображён список созданных ТЗ и предпросмотр выбранного документа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Пользователю выведено сообщение об отсутствии созданных ТЗ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Пользователю выведено сообщение о недоступности сервиса технических заданий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Основной сценарий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Пользователь выбирает раздел «Мои заявки».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Система запрашивает перечень сформированных ТЗ.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Система отображает список записей, отсортированных по дате создания от новых к старым.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Система отображает по каждой записи: наименование услуги, дату и время создания, наименование шаблона, объект работ, процент готовности ТЗ, количество выявленных рисков.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Пользователь выбирает запись из списка.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Система запрашивает файл документа в формате .docx.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Система отображает постраничный предпросмотр документа в интерфейсе платформы.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Система отображает панель действий с документом: «Скачать .docx», «Открыть в конструкторе», «История версий».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Альтернативный поток A1: Просмотр истории версий ранее созданного ТЗ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Выполняется на шаге 8 основного сценария.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A1.1. Пользователь выбирает действие «История версий».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A1.2. Система запрашивает перечень версий выбранного ТЗ.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A1.3. Система отображает список версий с указанием номера версии, даты создания и процента готовности.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A1.4. Пользователь выбирает версию из списка.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A1.5. Система отображает предпросмотр выбранной версии документа.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A1.6. Переход к шагу 8 основного сценария.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Альтернатива A1.4: пользователь повторно выбирает действие «История версий» — система скрывает перечень версий, переход к шагу 8 основного сценария.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Альтернативный поток A2: Скачивание файла в формате .docx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Выполняется на шаге 8 основного сценария либо на шаге A1.3.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A2.1. Пользователь выбирает действие «Скачать .docx» для документа или для конкретной версии.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A2.2. Система формирует файл документа.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A2.3. Система передаёт файл в браузер пользователя для сохранения.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A2.4. Переход к шагу 8 основного сценария.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Альтернативный поток A3: Редактирование ранее созданного ТЗ</a:t>
            </a:r>
            <a:endParaRPr sz="11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3e9b54e2d_0_36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>
                <a:solidFill>
                  <a:srgbClr val="8F8F8F"/>
                </a:solidFill>
              </a:rPr>
              <a:t>‹#›</a:t>
            </a:fld>
            <a:endParaRPr>
              <a:solidFill>
                <a:srgbClr val="8F8F8F"/>
              </a:solidFill>
            </a:endParaRPr>
          </a:p>
        </p:txBody>
      </p:sp>
      <p:sp>
        <p:nvSpPr>
          <p:cNvPr id="484" name="Google Shape;484;g3f3e9b54e2d_0_36"/>
          <p:cNvSpPr txBox="1"/>
          <p:nvPr>
            <p:ph type="title"/>
          </p:nvPr>
        </p:nvSpPr>
        <p:spPr>
          <a:xfrm>
            <a:off x="241420" y="286257"/>
            <a:ext cx="8699400" cy="69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3e9b54e2d_0_36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3e9b54e2d_0_36"/>
          <p:cNvSpPr txBox="1"/>
          <p:nvPr>
            <p:ph idx="2" type="body"/>
          </p:nvPr>
        </p:nvSpPr>
        <p:spPr>
          <a:xfrm>
            <a:off x="9083675" y="283135"/>
            <a:ext cx="2862900" cy="6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3e9b54e2d_0_36"/>
          <p:cNvSpPr txBox="1"/>
          <p:nvPr/>
        </p:nvSpPr>
        <p:spPr>
          <a:xfrm>
            <a:off x="142175" y="1343213"/>
            <a:ext cx="103665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Выполняется на шаге 8 основного сценария.</a:t>
            </a:r>
            <a:endParaRPr sz="14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A3.1. Пользователь выбирает действие «Открыть в конструкторе».</a:t>
            </a:r>
            <a:endParaRPr sz="14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A3.2. Система открывает раздел «Конструктор ТЗ» и загружает данные выбранного документа.</a:t>
            </a:r>
            <a:endParaRPr sz="14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A3.3. Выполнение сценария UC «Формирование ТЗ».</a:t>
            </a:r>
            <a:endParaRPr sz="14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Поток исключения</a:t>
            </a:r>
            <a:endParaRPr sz="14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E1. Список созданных ТЗ пуст. На шаге 3 система не получила ни одной записи. Система отображает сообщение «ТЗ пока не создавались». Сценарий завершается.</a:t>
            </a:r>
            <a:endParaRPr sz="14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E2. Сервис технических заданий недоступен. На шаге 2 или 6 система не получила ответ. Система отображает сообщение о недоступности сервиса. Пользователю доступно повторное выполнение сценария с шага 1.</a:t>
            </a:r>
            <a:endParaRPr sz="14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E3. Предпросмотр документа не отобразился. На шаге 7 браузер не смог отобразить содержимое файла. Система отображает сообщение о невозможности предпросмотра и предоставляет ссылку на скачивание файла. Переход к альтернативному потоку A2.</a:t>
            </a:r>
            <a:endParaRPr sz="1450">
              <a:solidFill>
                <a:srgbClr val="E1E3E6"/>
              </a:solidFill>
              <a:highlight>
                <a:srgbClr val="0A0A0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50">
                <a:solidFill>
                  <a:srgbClr val="E1E3E6"/>
                </a:solidFill>
                <a:highlight>
                  <a:srgbClr val="0A0A0A"/>
                </a:highlight>
                <a:latin typeface="Roboto"/>
                <a:ea typeface="Roboto"/>
                <a:cs typeface="Roboto"/>
                <a:sym typeface="Roboto"/>
              </a:rPr>
              <a:t>E4. Документ не найден. На шаге 6 или A1.2 запрошенный документ отсутствует. Система отображает сообщение об отсутствии документа. Переход к шагу 3 основного сценария.</a:t>
            </a:r>
            <a:r>
              <a:rPr lang="ru-RU">
                <a:solidFill>
                  <a:schemeClr val="dk2"/>
                </a:solidFill>
              </a:rPr>
              <a:t> 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70bedc70bcb8d47_31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494" name="Google Shape;494;g370bedc70bcb8d47_31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70bedc70bcb8d47_31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МОДЕЛЬ ДАННЫХ (КМД)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496" name="Google Shape;496;g370bedc70bcb8d47_31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70bedc70bcb8d47_31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761e156dd_0_19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МОДЕЛЬ ДАННЫХ (КМД)</a:t>
            </a:r>
            <a:endParaRPr b="1" sz="2400">
              <a:solidFill>
                <a:srgbClr val="8A8A8A"/>
              </a:solidFill>
            </a:endParaRPr>
          </a:p>
        </p:txBody>
      </p:sp>
      <p:pic>
        <p:nvPicPr>
          <p:cNvPr id="504" name="Google Shape;504;g3f761e156dd_0_19" title="кмд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450" y="963550"/>
            <a:ext cx="8953100" cy="49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70bedc70bcb8d47_44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70bedc70bcb8d47_44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ФУНКЦИОНАЛЬНЫЕ ОСОБЕННОСТИ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512" name="Google Shape;512;g370bedc70bcb8d47_44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70bedc70bcb8d47_44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70bedc70bcb8d47_53"/>
          <p:cNvSpPr txBox="1"/>
          <p:nvPr/>
        </p:nvSpPr>
        <p:spPr>
          <a:xfrm>
            <a:off x="543999" y="5527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ФУНКЦИОНАЛЬНЫЕ ОСОБЕННОСТИ</a:t>
            </a:r>
            <a:endParaRPr b="1" sz="2400">
              <a:solidFill>
                <a:srgbClr val="8A8A8A"/>
              </a:solidFill>
            </a:endParaRPr>
          </a:p>
        </p:txBody>
      </p:sp>
      <p:sp>
        <p:nvSpPr>
          <p:cNvPr id="520" name="Google Shape;520;g370bedc70bcb8d47_53"/>
          <p:cNvSpPr/>
          <p:nvPr/>
        </p:nvSpPr>
        <p:spPr>
          <a:xfrm>
            <a:off x="421250" y="1387871"/>
            <a:ext cx="5575800" cy="1900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Адаптивная верстка для мобильных устройств. Система адаптируется под любое устройство — заказчик может работать с ТЗ с рабочего места, из дома или на выезде, без потери функциональности.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70bedc70bcb8d47_53"/>
          <p:cNvSpPr/>
          <p:nvPr/>
        </p:nvSpPr>
        <p:spPr>
          <a:xfrm>
            <a:off x="544000" y="1660375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22" name="Google Shape;522;g370bedc70bcb8d47_53"/>
          <p:cNvSpPr/>
          <p:nvPr/>
        </p:nvSpPr>
        <p:spPr>
          <a:xfrm>
            <a:off x="421250" y="3569626"/>
            <a:ext cx="5575800" cy="1900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Умные подсказки на основе истории. Система анализирует ранее заполненные заявки одного типа и предлагает пользователю готовые варианты заполнения полей — не вводить заново, а выбрать из проверенных решений.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70bedc70bcb8d47_53"/>
          <p:cNvSpPr/>
          <p:nvPr/>
        </p:nvSpPr>
        <p:spPr>
          <a:xfrm>
            <a:off x="543999" y="3864075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24" name="Google Shape;524;g370bedc70bcb8d47_53"/>
          <p:cNvSpPr/>
          <p:nvPr/>
        </p:nvSpPr>
        <p:spPr>
          <a:xfrm>
            <a:off x="6194950" y="1387889"/>
            <a:ext cx="5575800" cy="1900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Кнопка «Проверить черновик» запускает интеллектуальный анализ заявки. ИИ-агент проверяет заполнение всех критических полей, выявляет логические несоответствия и риски, после чего формирует список рекомендаций с подсветкой проблемных зон.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70bedc70bcb8d47_53"/>
          <p:cNvSpPr/>
          <p:nvPr/>
        </p:nvSpPr>
        <p:spPr>
          <a:xfrm>
            <a:off x="6289264" y="1660342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526" name="Google Shape;526;g370bedc70bcb8d47_53"/>
          <p:cNvSpPr/>
          <p:nvPr/>
        </p:nvSpPr>
        <p:spPr>
          <a:xfrm>
            <a:off x="6194950" y="3569609"/>
            <a:ext cx="5575800" cy="1900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ИИ-агент анализирует диалог с пользователем в режиме реального времени, распознает и  ключевые сущности. После завершения общения данные автоматически структурируются и переносятся в форму конструктора, формируя черновик ТЗ без ручного ввода.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70bedc70bcb8d47_53"/>
          <p:cNvSpPr/>
          <p:nvPr/>
        </p:nvSpPr>
        <p:spPr>
          <a:xfrm>
            <a:off x="6289264" y="3864067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FFFFFF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3ea1c8ab7_6_0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f3ea1c8ab7_6_0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АРХИТЕКТУРНАЯ МОДЕЛЬ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535" name="Google Shape;535;g3f3ea1c8ab7_6_0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3ea1c8ab7_6_0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3ea1c8ab7_6_8"/>
          <p:cNvSpPr txBox="1"/>
          <p:nvPr/>
        </p:nvSpPr>
        <p:spPr>
          <a:xfrm>
            <a:off x="240774" y="126025"/>
            <a:ext cx="7308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ru-RU" sz="2400">
                <a:solidFill>
                  <a:srgbClr val="797979"/>
                </a:solidFill>
              </a:rPr>
              <a:t>АРХИТЕКТУРНАЯ МОДЕЛЬ</a:t>
            </a:r>
            <a:endParaRPr b="1" sz="3200">
              <a:solidFill>
                <a:srgbClr val="797979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97979"/>
              </a:solidFill>
            </a:endParaRPr>
          </a:p>
        </p:txBody>
      </p:sp>
      <p:pic>
        <p:nvPicPr>
          <p:cNvPr id="543" name="Google Shape;543;g3f3ea1c8ab7_6_8" title="АРхитектур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700" y="703200"/>
            <a:ext cx="7308600" cy="5451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70bedc70bcb8d47_61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70bedc70bcb8d47_61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ДЕМО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551" name="Google Shape;551;g370bedc70bcb8d47_61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70bedc70bcb8d47_61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g370bedc70bcb8d47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711" y="3706243"/>
            <a:ext cx="5695286" cy="319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70bedc70bcb8d47_40"/>
          <p:cNvSpPr txBox="1"/>
          <p:nvPr/>
        </p:nvSpPr>
        <p:spPr>
          <a:xfrm>
            <a:off x="6541199" y="3230700"/>
            <a:ext cx="5650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3200"/>
              <a:buFont typeface="Arial"/>
              <a:buNone/>
            </a:pPr>
            <a:r>
              <a:rPr b="1" lang="ru-RU" sz="3200">
                <a:solidFill>
                  <a:srgbClr val="7E7E7E"/>
                </a:solidFill>
              </a:rPr>
              <a:t>СПАСИБО ЗА ВНИМАНИЕ!</a:t>
            </a:r>
            <a:endParaRPr b="1" sz="2800">
              <a:solidFill>
                <a:srgbClr val="9C9E9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73ffa0c65_0_815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565" name="Google Shape;565;g3f73ffa0c65_0_815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f73ffa0c65_0_815"/>
          <p:cNvSpPr txBox="1"/>
          <p:nvPr/>
        </p:nvSpPr>
        <p:spPr>
          <a:xfrm>
            <a:off x="692950" y="2945007"/>
            <a:ext cx="110115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Цели, предпосылки и бизнес-требования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567" name="Google Shape;567;g3f73ffa0c65_0_815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3f73ffa0c65_0_815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73ffa0c65_0_0"/>
          <p:cNvSpPr txBox="1"/>
          <p:nvPr>
            <p:ph idx="2" type="body"/>
          </p:nvPr>
        </p:nvSpPr>
        <p:spPr>
          <a:xfrm>
            <a:off x="9083675" y="283135"/>
            <a:ext cx="2862900" cy="6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73ffa0c65_0_0"/>
          <p:cNvSpPr/>
          <p:nvPr/>
        </p:nvSpPr>
        <p:spPr>
          <a:xfrm>
            <a:off x="337049" y="333375"/>
            <a:ext cx="11517900" cy="648000"/>
          </a:xfrm>
          <a:prstGeom prst="rect">
            <a:avLst/>
          </a:prstGeom>
          <a:solidFill>
            <a:srgbClr val="0094DF"/>
          </a:solidFill>
          <a:ln cap="flat" cmpd="sng" w="12700">
            <a:solidFill>
              <a:srgbClr val="009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</a:rPr>
              <a:t>ЦЕЛЬ</a:t>
            </a:r>
            <a:endParaRPr b="1"/>
          </a:p>
        </p:txBody>
      </p:sp>
      <p:sp>
        <p:nvSpPr>
          <p:cNvPr id="576" name="Google Shape;576;g3f73ffa0c65_0_0"/>
          <p:cNvSpPr/>
          <p:nvPr/>
        </p:nvSpPr>
        <p:spPr>
          <a:xfrm>
            <a:off x="337050" y="981075"/>
            <a:ext cx="11517900" cy="920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i="0" lang="ru-RU" sz="1400" u="none" cap="none" strike="noStrike">
                <a:solidFill>
                  <a:srgbClr val="000000"/>
                </a:solidFill>
              </a:rPr>
              <a:t>Снижение ТРЗ при формировании заявок на нефтесервисные работы (ЗНСР) за счет внедрения умного конструктора технического задания и ИИ-агента умного поиска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i="0" lang="ru-RU" sz="1400" u="none" cap="none" strike="noStrike">
                <a:solidFill>
                  <a:srgbClr val="000000"/>
                </a:solidFill>
              </a:rPr>
              <a:t>Обеспечение интеллектуальной поддержки заказчика при выборе услуг и исполнителей за счет использования накопленных данных платформы ПРОСТОР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77" name="Google Shape;577;g3f73ffa0c65_0_0"/>
          <p:cNvSpPr/>
          <p:nvPr/>
        </p:nvSpPr>
        <p:spPr>
          <a:xfrm>
            <a:off x="334950" y="2049557"/>
            <a:ext cx="11517900" cy="648000"/>
          </a:xfrm>
          <a:prstGeom prst="rect">
            <a:avLst/>
          </a:prstGeom>
          <a:solidFill>
            <a:srgbClr val="004596"/>
          </a:solidFill>
          <a:ln cap="flat" cmpd="sng" w="1270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</a:rPr>
              <a:t>ЗАДАЧИ</a:t>
            </a:r>
            <a:endParaRPr b="1"/>
          </a:p>
        </p:txBody>
      </p:sp>
      <p:sp>
        <p:nvSpPr>
          <p:cNvPr id="578" name="Google Shape;578;g3f73ffa0c65_0_0"/>
          <p:cNvSpPr/>
          <p:nvPr/>
        </p:nvSpPr>
        <p:spPr>
          <a:xfrm>
            <a:off x="334950" y="2697557"/>
            <a:ext cx="11517900" cy="2041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ru-RU" sz="1400" u="none" cap="none" strike="noStrike">
                <a:solidFill>
                  <a:srgbClr val="000000"/>
                </a:solidFill>
              </a:rPr>
              <a:t>-</a:t>
            </a:r>
            <a:r>
              <a:rPr i="0" lang="ru-RU" sz="1100" u="none" cap="none" strike="noStrike">
                <a:solidFill>
                  <a:srgbClr val="000000"/>
                </a:solidFill>
              </a:rPr>
              <a:t> </a:t>
            </a:r>
            <a:r>
              <a:rPr i="0" lang="ru-RU" sz="1400" u="none" cap="none" strike="noStrike">
                <a:solidFill>
                  <a:srgbClr val="000000"/>
                </a:solidFill>
              </a:rPr>
              <a:t>Разработка функциональности «Умного конструктора ТЗ» для автоматической сборки документа из типовых блоков, проверки готовности и выявления рисков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ru-RU" sz="1400" u="none" cap="none" strike="noStrike">
                <a:solidFill>
                  <a:srgbClr val="000000"/>
                </a:solidFill>
              </a:rPr>
              <a:t>- Разработка функциональности «ИИ-агента умного поиска» для обработки запросов на естественном языке, подбора релевантных услуг и исполнителей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ru-RU" sz="1400" u="none" cap="none" strike="noStrike">
                <a:solidFill>
                  <a:srgbClr val="000000"/>
                </a:solidFill>
              </a:rPr>
              <a:t>- Формирование аналитических отчетов по созданным ТЗ и поисковым запросам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ru-RU" sz="1400" u="none" cap="none" strike="noStrike">
                <a:solidFill>
                  <a:srgbClr val="000000"/>
                </a:solidFill>
              </a:rPr>
              <a:t>- Интеграция в рамках единого приложения двух модулей с обеспечением бесшовного перехода от диалога с агентом к формированию ТЗ в конструкторе с предзаполненными данными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ru-RU" sz="1400" u="none" cap="none" strike="noStrike">
                <a:solidFill>
                  <a:srgbClr val="000000"/>
                </a:solidFill>
              </a:rPr>
              <a:t>- Формирование аналитических отчетов по созданным ТЗ и поисковым запросам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79" name="Google Shape;579;g3f73ffa0c65_0_0"/>
          <p:cNvSpPr/>
          <p:nvPr/>
        </p:nvSpPr>
        <p:spPr>
          <a:xfrm>
            <a:off x="337032" y="4887763"/>
            <a:ext cx="11520000" cy="648000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</a:rPr>
              <a:t>ОБРАЗ РЕЗУЛЬТАТА</a:t>
            </a:r>
            <a:endParaRPr b="1"/>
          </a:p>
        </p:txBody>
      </p:sp>
      <p:sp>
        <p:nvSpPr>
          <p:cNvPr id="580" name="Google Shape;580;g3f73ffa0c65_0_0"/>
          <p:cNvSpPr/>
          <p:nvPr/>
        </p:nvSpPr>
        <p:spPr>
          <a:xfrm>
            <a:off x="334950" y="5535763"/>
            <a:ext cx="11517900" cy="792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81" name="Google Shape;581;g3f73ffa0c65_0_0"/>
          <p:cNvSpPr txBox="1"/>
          <p:nvPr/>
        </p:nvSpPr>
        <p:spPr>
          <a:xfrm>
            <a:off x="337050" y="5660200"/>
            <a:ext cx="11517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Платформа самостоятельно собирает техническое задание и помогает быстро подобрать нужные услуги и исполнителей — заказчик тратит меньше времени на оформление заявки, ТЗ содержит меньше ошибок, а согласование проходит быстрее.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3e5e7f043_1_0"/>
          <p:cNvSpPr/>
          <p:nvPr/>
        </p:nvSpPr>
        <p:spPr>
          <a:xfrm>
            <a:off x="332676" y="336325"/>
            <a:ext cx="5691300" cy="648000"/>
          </a:xfrm>
          <a:prstGeom prst="rect">
            <a:avLst/>
          </a:prstGeom>
          <a:solidFill>
            <a:srgbClr val="004596"/>
          </a:solidFill>
          <a:ln cap="flat" cmpd="sng" w="1270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ЗАИНТЕРЕСОВАННЫЕ СТОРОНЫ</a:t>
            </a:r>
            <a:endParaRPr sz="14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3e5e7f043_1_0"/>
          <p:cNvSpPr/>
          <p:nvPr/>
        </p:nvSpPr>
        <p:spPr>
          <a:xfrm>
            <a:off x="332676" y="984321"/>
            <a:ext cx="5688000" cy="5688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ПАО «Газпром нефть» - КЦ: Дирекция по добыче, Департамент добычи нефти и газа, Дирекция по газу и энергетике, Департамент газовых проектов и эксплуатации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ООО «Газпромнефть НТЦ» Департамент геологии и разработки новых активов: Департамент геологии и разработки текущих активов, Департамент научно-методического сопровождения разработки и профессионального развития.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Подразделения сводного планирования и разработки, направления по разработке газовых месторождений:</a:t>
            </a:r>
            <a:endParaRPr/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ООО «Газпромнефть-Хантос»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АО «Газпромнефть-Ноябрьскнефтегаз»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ООО «Газпромнефть-Восток»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ООО «Газпромнефть-Оренбург»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ООО «Газпромнефть-Ямал»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АО «Мессояханефтегаз»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ПАО «Славнефть-Мегионнефтегаз»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ООО «Газпромнефть-Заполярье»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Нефтяная индустрия Сербии (НИС Нови-сад)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ООО «Меретояханефтегаз»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Команда разработки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Инвестиционный комитет компании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Инвестиционная комиссия БРД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Центр цифровой трансформации </a:t>
            </a:r>
            <a:endParaRPr sz="1800">
              <a:solidFill>
                <a:srgbClr val="00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Смежные системы и продукты</a:t>
            </a:r>
            <a:br>
              <a:rPr lang="ru-RU" sz="1800">
                <a:solidFill>
                  <a:srgbClr val="FFFFFF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FFFFFF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f3e5e7f043_1_0"/>
          <p:cNvSpPr/>
          <p:nvPr/>
        </p:nvSpPr>
        <p:spPr>
          <a:xfrm>
            <a:off x="6166301" y="333078"/>
            <a:ext cx="5691300" cy="648000"/>
          </a:xfrm>
          <a:prstGeom prst="rect">
            <a:avLst/>
          </a:prstGeom>
          <a:solidFill>
            <a:srgbClr val="0094DF"/>
          </a:solidFill>
          <a:ln cap="flat" cmpd="sng" w="12700">
            <a:solidFill>
              <a:srgbClr val="0094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СХЕМА ЭКСКАЛАЦИИ ПРОБЛЕМ</a:t>
            </a:r>
            <a:endParaRPr sz="1400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f3e5e7f043_1_0"/>
          <p:cNvSpPr/>
          <p:nvPr/>
        </p:nvSpPr>
        <p:spPr>
          <a:xfrm>
            <a:off x="6582050" y="1137275"/>
            <a:ext cx="4588800" cy="1019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Руководитель проекта, члены проектной группы:</a:t>
            </a: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при невозможности решить проблему на 1 уровне руководитель проекта вносить проблему в ИСУП, а также отправляет формулировку проблемы и предложения по решению ЕОЛ</a:t>
            </a:r>
            <a:endParaRPr/>
          </a:p>
        </p:txBody>
      </p:sp>
      <p:sp>
        <p:nvSpPr>
          <p:cNvPr id="591" name="Google Shape;591;g3f3e5e7f043_1_0"/>
          <p:cNvSpPr/>
          <p:nvPr/>
        </p:nvSpPr>
        <p:spPr>
          <a:xfrm>
            <a:off x="6596500" y="2617750"/>
            <a:ext cx="4588800" cy="1067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ЕОЛ проекта и РПг: </a:t>
            </a: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случае принятия решения о невозможности решения проблемы на 2 уровне руководитель проекта вносит соответствующий запись в ИСУП. Руководитель проекта организует встречу ЕОЛ и РПг о выборе решения проблемы.</a:t>
            </a:r>
            <a:endParaRPr/>
          </a:p>
        </p:txBody>
      </p:sp>
      <p:sp>
        <p:nvSpPr>
          <p:cNvPr id="592" name="Google Shape;592;g3f3e5e7f043_1_0"/>
          <p:cNvSpPr/>
          <p:nvPr/>
        </p:nvSpPr>
        <p:spPr>
          <a:xfrm>
            <a:off x="6596499" y="4098225"/>
            <a:ext cx="4588800" cy="949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УКПг, Заказчик проекта: </a:t>
            </a: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случае превышения лимитов проекта проблема эскалируется на 3 уровень. Руководитель проекта подготавливает презентацию, отражающую необходимые решения</a:t>
            </a:r>
            <a:endParaRPr/>
          </a:p>
        </p:txBody>
      </p:sp>
      <p:cxnSp>
        <p:nvCxnSpPr>
          <p:cNvPr id="593" name="Google Shape;593;g3f3e5e7f043_1_0"/>
          <p:cNvCxnSpPr>
            <a:endCxn id="590" idx="1"/>
          </p:cNvCxnSpPr>
          <p:nvPr/>
        </p:nvCxnSpPr>
        <p:spPr>
          <a:xfrm flipH="1" rot="-5400000">
            <a:off x="6044750" y="1109525"/>
            <a:ext cx="663900" cy="410700"/>
          </a:xfrm>
          <a:prstGeom prst="bentConnector2">
            <a:avLst/>
          </a:prstGeom>
          <a:noFill/>
          <a:ln cap="flat" cmpd="sng" w="952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g3f3e5e7f043_1_0"/>
          <p:cNvCxnSpPr/>
          <p:nvPr/>
        </p:nvCxnSpPr>
        <p:spPr>
          <a:xfrm flipH="1" rot="-5400000">
            <a:off x="5658701" y="2136131"/>
            <a:ext cx="1427700" cy="412500"/>
          </a:xfrm>
          <a:prstGeom prst="bentConnector2">
            <a:avLst/>
          </a:prstGeom>
          <a:noFill/>
          <a:ln cap="flat" cmpd="sng" w="952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g3f3e5e7f043_1_0"/>
          <p:cNvCxnSpPr/>
          <p:nvPr/>
        </p:nvCxnSpPr>
        <p:spPr>
          <a:xfrm flipH="1" rot="-5400000">
            <a:off x="5626751" y="3595487"/>
            <a:ext cx="1491600" cy="412500"/>
          </a:xfrm>
          <a:prstGeom prst="bentConnector2">
            <a:avLst/>
          </a:prstGeom>
          <a:noFill/>
          <a:ln cap="flat" cmpd="sng" w="952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g3f3e5e7f043_1_0"/>
          <p:cNvSpPr/>
          <p:nvPr/>
        </p:nvSpPr>
        <p:spPr>
          <a:xfrm rot="5400000">
            <a:off x="10908325" y="1416751"/>
            <a:ext cx="1440900" cy="915900"/>
          </a:xfrm>
          <a:prstGeom prst="chevron">
            <a:avLst>
              <a:gd fmla="val 50000" name="adj"/>
            </a:avLst>
          </a:prstGeom>
          <a:solidFill>
            <a:srgbClr val="0045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3e5e7f043_1_0"/>
          <p:cNvSpPr txBox="1"/>
          <p:nvPr/>
        </p:nvSpPr>
        <p:spPr>
          <a:xfrm>
            <a:off x="11170815" y="1569093"/>
            <a:ext cx="915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уровень</a:t>
            </a:r>
            <a:endParaRPr/>
          </a:p>
        </p:txBody>
      </p:sp>
      <p:sp>
        <p:nvSpPr>
          <p:cNvPr id="598" name="Google Shape;598;g3f3e5e7f043_1_0"/>
          <p:cNvSpPr/>
          <p:nvPr/>
        </p:nvSpPr>
        <p:spPr>
          <a:xfrm rot="5400000">
            <a:off x="10873850" y="2904801"/>
            <a:ext cx="1509600" cy="915900"/>
          </a:xfrm>
          <a:prstGeom prst="chevron">
            <a:avLst>
              <a:gd fmla="val 50000" name="adj"/>
            </a:avLst>
          </a:prstGeom>
          <a:solidFill>
            <a:srgbClr val="0070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f3e5e7f043_1_0"/>
          <p:cNvSpPr txBox="1"/>
          <p:nvPr/>
        </p:nvSpPr>
        <p:spPr>
          <a:xfrm>
            <a:off x="11170815" y="3022893"/>
            <a:ext cx="915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уровень</a:t>
            </a:r>
            <a:endParaRPr/>
          </a:p>
        </p:txBody>
      </p:sp>
      <p:sp>
        <p:nvSpPr>
          <p:cNvPr id="600" name="Google Shape;600;g3f3e5e7f043_1_0"/>
          <p:cNvSpPr/>
          <p:nvPr/>
        </p:nvSpPr>
        <p:spPr>
          <a:xfrm rot="5400000">
            <a:off x="10973794" y="4327416"/>
            <a:ext cx="1374300" cy="915900"/>
          </a:xfrm>
          <a:prstGeom prst="chevron">
            <a:avLst>
              <a:gd fmla="val 50000" name="adj"/>
            </a:avLst>
          </a:prstGeom>
          <a:solidFill>
            <a:srgbClr val="2FB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f3e5e7f043_1_0"/>
          <p:cNvSpPr txBox="1"/>
          <p:nvPr/>
        </p:nvSpPr>
        <p:spPr>
          <a:xfrm>
            <a:off x="11170815" y="4433818"/>
            <a:ext cx="915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уровень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3e5e7f043_1_24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f3e5e7f043_1_24"/>
          <p:cNvSpPr txBox="1"/>
          <p:nvPr>
            <p:ph idx="2" type="body"/>
          </p:nvPr>
        </p:nvSpPr>
        <p:spPr>
          <a:xfrm>
            <a:off x="9083675" y="283135"/>
            <a:ext cx="2862900" cy="69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f3e5e7f043_1_24"/>
          <p:cNvSpPr txBox="1"/>
          <p:nvPr/>
        </p:nvSpPr>
        <p:spPr>
          <a:xfrm>
            <a:off x="240777" y="6400222"/>
            <a:ext cx="57246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7F7F7F"/>
              </a:solidFill>
            </a:endParaRPr>
          </a:p>
        </p:txBody>
      </p:sp>
      <p:sp>
        <p:nvSpPr>
          <p:cNvPr id="610" name="Google Shape;610;g3f3e5e7f043_1_24"/>
          <p:cNvSpPr/>
          <p:nvPr/>
        </p:nvSpPr>
        <p:spPr>
          <a:xfrm>
            <a:off x="2280205" y="800920"/>
            <a:ext cx="3504300" cy="2312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Инвестиционный комитет компании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Инвестиционная комиссия БРД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f3e5e7f043_1_24"/>
          <p:cNvSpPr/>
          <p:nvPr/>
        </p:nvSpPr>
        <p:spPr>
          <a:xfrm>
            <a:off x="6412176" y="800920"/>
            <a:ext cx="3504300" cy="2312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ЦЦТ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«Газпромнефть» - КЦ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3f3e5e7f043_1_24"/>
          <p:cNvSpPr/>
          <p:nvPr/>
        </p:nvSpPr>
        <p:spPr>
          <a:xfrm>
            <a:off x="2280203" y="3602074"/>
            <a:ext cx="3504300" cy="2312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Внешние подрядчики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Смежные системы и продукты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45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f3e5e7f043_1_24"/>
          <p:cNvSpPr/>
          <p:nvPr/>
        </p:nvSpPr>
        <p:spPr>
          <a:xfrm>
            <a:off x="6412175" y="3602074"/>
            <a:ext cx="3504300" cy="2312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45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«Газпромнефть НТЦ»</a:t>
            </a:r>
            <a:br>
              <a:rPr lang="ru-RU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Пользователи</a:t>
            </a:r>
            <a:br>
              <a:rPr lang="ru-RU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Команда разработки</a:t>
            </a:r>
            <a:b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g3f3e5e7f043_1_24"/>
          <p:cNvCxnSpPr/>
          <p:nvPr/>
        </p:nvCxnSpPr>
        <p:spPr>
          <a:xfrm flipH="1" rot="10800000">
            <a:off x="1907283" y="6320325"/>
            <a:ext cx="8604300" cy="8700"/>
          </a:xfrm>
          <a:prstGeom prst="straightConnector1">
            <a:avLst/>
          </a:prstGeom>
          <a:noFill/>
          <a:ln cap="flat" cmpd="sng" w="25400">
            <a:solidFill>
              <a:srgbClr val="0047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5" name="Google Shape;615;g3f3e5e7f043_1_24"/>
          <p:cNvCxnSpPr/>
          <p:nvPr/>
        </p:nvCxnSpPr>
        <p:spPr>
          <a:xfrm rot="10800000">
            <a:off x="1909546" y="471155"/>
            <a:ext cx="19200" cy="5868600"/>
          </a:xfrm>
          <a:prstGeom prst="straightConnector1">
            <a:avLst/>
          </a:prstGeom>
          <a:noFill/>
          <a:ln cap="flat" cmpd="sng" w="25400">
            <a:solidFill>
              <a:srgbClr val="0047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6" name="Google Shape;616;g3f3e5e7f043_1_24"/>
          <p:cNvSpPr txBox="1"/>
          <p:nvPr/>
        </p:nvSpPr>
        <p:spPr>
          <a:xfrm>
            <a:off x="5786745" y="6402017"/>
            <a:ext cx="25206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Интерес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3e5e7f043_1_24"/>
          <p:cNvSpPr txBox="1"/>
          <p:nvPr/>
        </p:nvSpPr>
        <p:spPr>
          <a:xfrm rot="-5400000">
            <a:off x="511877" y="2233565"/>
            <a:ext cx="25206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Влияние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3e5e7f043_1_24"/>
          <p:cNvSpPr txBox="1"/>
          <p:nvPr/>
        </p:nvSpPr>
        <p:spPr>
          <a:xfrm>
            <a:off x="3954789" y="329483"/>
            <a:ext cx="428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Матрица</a:t>
            </a:r>
            <a:r>
              <a:rPr lang="ru-RU" sz="2000"/>
              <a:t> </a:t>
            </a:r>
            <a:r>
              <a:rPr lang="ru-RU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Менделоу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" name="Google Shape;624;g3f3e5e7f043_1_73"/>
          <p:cNvGraphicFramePr/>
          <p:nvPr/>
        </p:nvGraphicFramePr>
        <p:xfrm>
          <a:off x="247212" y="861399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{39B07D42-7F0E-4DFD-B4E2-AC23A56A857F}</a:tableStyleId>
              </a:tblPr>
              <a:tblGrid>
                <a:gridCol w="714375"/>
                <a:gridCol w="1092575"/>
                <a:gridCol w="7590875"/>
                <a:gridCol w="2299750"/>
              </a:tblGrid>
              <a:tr h="26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ru-RU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№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5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ru-RU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БТ0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5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ru-RU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ФТ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5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ru-RU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Приоритет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596"/>
                    </a:solidFill>
                  </a:tcPr>
                </a:tc>
              </a:tr>
              <a:tr h="60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3A8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solidFill>
                            <a:srgbClr val="0A53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БТ2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 системе должно быть реализовано отображение пластов по след. правилу: </a:t>
                      </a:r>
                      <a:endParaRPr b="0" i="0" sz="12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Удалять из ГТМ все пласты, у которых даты и время остановки по всем записям будут до даты и времени запуска ГТМ.</a:t>
                      </a:r>
                      <a:endParaRPr b="0" i="0" sz="12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3821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solidFill>
                            <a:srgbClr val="4738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b="0" i="0" lang="ru-RU" sz="1200" u="none" strike="noStrike">
                          <a:solidFill>
                            <a:srgbClr val="B1020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Обязательное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3286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5A328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БТ3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 системе необходимо скорректировать логику интеграции между модулями Закачка и ГТМ+БФ для обеспечения корректного отображения данных по закачке на вкладке ГТМ+БФ. </a:t>
                      </a:r>
                      <a:endParaRPr b="0" i="0" sz="1200" u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 БФ должны быть показатели по Закачке, организовать цикл: изначально ведется счет БФ,  Закачка, снова БФ, для того, чтобы в БФ отобразилсь показатели Закачки.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10202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B1020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Обязательное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9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3A8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solidFill>
                            <a:srgbClr val="0A53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БТ2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 системе необходимо реализовать логику: </a:t>
                      </a:r>
                      <a:b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Система проверяет принадлежность выбранных ОС к незакрытому ОП: дата начала действия ОС должна лежать в пределах незакрытого ОП;</a:t>
                      </a:r>
                      <a:b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Система пересчитывает эффект от ГТМ, к которым относятся удаленные ОС, за ОП, к которому принадлежит удаленный ОС. (выставлять флаг о необходимости пересчета)</a:t>
                      </a:r>
                      <a:b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Система пересчитывает эффект от других ГТМ на скважине за ОП, к которому принадлежит удаленный ОС. (выставлять флаг о необходимости пересчета).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10202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B1020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Обязательное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3A8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0A53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БТ2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 системе необходимо скорректировать в отчёте ГТМ+БФ расчёт для случаев, когда скважина работает одновременно на двух пластах, при этом один ГТМ в БФ по ИП (вид проект), а второй ГТМ (вид прогноз).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382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4738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Одномерное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3A8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solidFill>
                            <a:srgbClr val="0A53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БТ2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 системе реализовать фукнцию экспорта деталей расчета ГТМ в Excel.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382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4738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Одномерное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53A8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0A53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БТ2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ru-RU" sz="1200" u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 системе должна быть реализована возможность создания полностью идентичных пластов: для ПГ отключить запрет на создание идентичных (за исключением наименования) пластов в рамках одной модели.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382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47382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Одномерное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0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34B"/>
                        </a:buClr>
                        <a:buSzPts val="1200"/>
                        <a:buFont typeface="Calibri"/>
                        <a:buNone/>
                      </a:pPr>
                      <a:r>
                        <a:rPr lang="ru-RU" sz="1200">
                          <a:solidFill>
                            <a:srgbClr val="1173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БТ1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-RU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В системе Отчетность необходимо привести к единообразию отображение в ППДН-1 переводов в ППД в фактическом и плановом периоде.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734B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ru-RU" sz="1200" u="none" strike="noStrike">
                          <a:solidFill>
                            <a:srgbClr val="1173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Привлекательное </a:t>
                      </a:r>
                      <a:endParaRPr sz="1800"/>
                    </a:p>
                  </a:txBody>
                  <a:tcPr marT="45725" marB="45725" marR="25400" marL="254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5" name="Google Shape;625;g3f3e5e7f043_1_73"/>
          <p:cNvSpPr txBox="1"/>
          <p:nvPr/>
        </p:nvSpPr>
        <p:spPr>
          <a:xfrm>
            <a:off x="395467" y="145696"/>
            <a:ext cx="5619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797979"/>
                </a:solidFill>
              </a:rPr>
              <a:t>ДЕРЕВО ТРЕБОВАНИЙ</a:t>
            </a:r>
            <a:endParaRPr b="1" sz="2400">
              <a:solidFill>
                <a:srgbClr val="7979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6" name="Google Shape;626;g3f3e5e7f043_1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50" y="454875"/>
            <a:ext cx="11802452" cy="64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3e5e7f043_1_84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, диаграмма, круг, линия&#10;&#10;Содержимое, созданное искусственным интеллектом, может быть неверным." id="633" name="Google Shape;633;g3f3e5e7f043_1_84"/>
          <p:cNvPicPr preferRelativeResize="0"/>
          <p:nvPr/>
        </p:nvPicPr>
        <p:blipFill rotWithShape="1">
          <a:blip r:embed="rId3">
            <a:alphaModFix/>
          </a:blip>
          <a:srcRect b="4349" l="0" r="5562" t="7607"/>
          <a:stretch/>
        </p:blipFill>
        <p:spPr>
          <a:xfrm>
            <a:off x="618928" y="1752382"/>
            <a:ext cx="6945522" cy="3472761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g3f3e5e7f043_1_84"/>
          <p:cNvSpPr txBox="1"/>
          <p:nvPr/>
        </p:nvSpPr>
        <p:spPr>
          <a:xfrm>
            <a:off x="480767" y="348792"/>
            <a:ext cx="110241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USE CASE: Проверки принадлежности выбранных ОС к незакрытому ОП</a:t>
            </a:r>
            <a:endParaRPr/>
          </a:p>
        </p:txBody>
      </p:sp>
      <p:sp>
        <p:nvSpPr>
          <p:cNvPr id="635" name="Google Shape;635;g3f3e5e7f043_1_84"/>
          <p:cNvSpPr/>
          <p:nvPr/>
        </p:nvSpPr>
        <p:spPr>
          <a:xfrm>
            <a:off x="7589068" y="3085376"/>
            <a:ext cx="4167600" cy="8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удалить выбранную операцию по скважине с выполнением проверок и пересчетом связанных эффектов от ГТМ</a:t>
            </a:r>
            <a:endParaRPr/>
          </a:p>
        </p:txBody>
      </p:sp>
      <p:sp>
        <p:nvSpPr>
          <p:cNvPr id="636" name="Google Shape;636;g3f3e5e7f043_1_84"/>
          <p:cNvSpPr/>
          <p:nvPr/>
        </p:nvSpPr>
        <p:spPr>
          <a:xfrm>
            <a:off x="7589068" y="2254611"/>
            <a:ext cx="4167600" cy="50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Актор</a:t>
            </a: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Пользователь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текст, диаграмма, круг, Шрифт&#10;&#10;Содержимое, созданное искусственным интеллектом, может быть неверным." id="642" name="Google Shape;642;g3f3e5e7f043_1_96"/>
          <p:cNvPicPr preferRelativeResize="0"/>
          <p:nvPr/>
        </p:nvPicPr>
        <p:blipFill rotWithShape="1">
          <a:blip r:embed="rId3">
            <a:alphaModFix/>
          </a:blip>
          <a:srcRect b="7613" l="0" r="180" t="0"/>
          <a:stretch/>
        </p:blipFill>
        <p:spPr>
          <a:xfrm>
            <a:off x="7372" y="2357188"/>
            <a:ext cx="7584954" cy="1261283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g3f3e5e7f043_1_96"/>
          <p:cNvSpPr txBox="1"/>
          <p:nvPr/>
        </p:nvSpPr>
        <p:spPr>
          <a:xfrm>
            <a:off x="480767" y="328471"/>
            <a:ext cx="41871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USE CASE: Запуск расчета ГТМ</a:t>
            </a:r>
            <a:endParaRPr b="1" sz="2400">
              <a:solidFill>
                <a:srgbClr val="7979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3e5e7f043_1_96"/>
          <p:cNvSpPr/>
          <p:nvPr/>
        </p:nvSpPr>
        <p:spPr>
          <a:xfrm>
            <a:off x="7589068" y="3085376"/>
            <a:ext cx="4167600" cy="8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запуск процесса расчета ГТМ с проверкой на дублирующие запуски и информированием пользователя</a:t>
            </a:r>
            <a:endParaRPr/>
          </a:p>
        </p:txBody>
      </p:sp>
      <p:sp>
        <p:nvSpPr>
          <p:cNvPr id="645" name="Google Shape;645;g3f3e5e7f043_1_96"/>
          <p:cNvSpPr/>
          <p:nvPr/>
        </p:nvSpPr>
        <p:spPr>
          <a:xfrm>
            <a:off x="7589068" y="2254611"/>
            <a:ext cx="4167600" cy="50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Актор</a:t>
            </a:r>
            <a:r>
              <a:rPr lang="ru-RU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Пользователь </a:t>
            </a:r>
            <a:endParaRPr/>
          </a:p>
        </p:txBody>
      </p:sp>
      <p:sp>
        <p:nvSpPr>
          <p:cNvPr id="646" name="Google Shape;646;g3f3e5e7f043_1_96"/>
          <p:cNvSpPr txBox="1"/>
          <p:nvPr/>
        </p:nvSpPr>
        <p:spPr>
          <a:xfrm>
            <a:off x="709127" y="6148875"/>
            <a:ext cx="387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ГТМ – геолого-технические мероприятия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0"/>
          <p:cNvSpPr txBox="1"/>
          <p:nvPr/>
        </p:nvSpPr>
        <p:spPr>
          <a:xfrm>
            <a:off x="6541199" y="3230700"/>
            <a:ext cx="5650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3200"/>
              <a:buFont typeface="Arial"/>
              <a:buNone/>
            </a:pPr>
            <a:r>
              <a:rPr b="1" lang="ru-RU" sz="3200">
                <a:solidFill>
                  <a:srgbClr val="7E7E7E"/>
                </a:solidFill>
              </a:rPr>
              <a:t>СПАСИБО ЗА ВНИМАНИЕ!</a:t>
            </a:r>
            <a:endParaRPr b="1" sz="2800">
              <a:solidFill>
                <a:srgbClr val="9C9E9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73ffa0c65_0_15"/>
          <p:cNvSpPr txBox="1"/>
          <p:nvPr>
            <p:ph idx="1" type="body"/>
          </p:nvPr>
        </p:nvSpPr>
        <p:spPr>
          <a:xfrm>
            <a:off x="240777" y="6400222"/>
            <a:ext cx="5724600" cy="20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f73ffa0c65_0_15"/>
          <p:cNvSpPr/>
          <p:nvPr/>
        </p:nvSpPr>
        <p:spPr>
          <a:xfrm>
            <a:off x="347204" y="333774"/>
            <a:ext cx="11296869" cy="64815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 cap="flat" cmpd="sng" w="12700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</a:rPr>
              <a:t>ПРЕДПОСЫЛКИ</a:t>
            </a:r>
            <a:endParaRPr b="1" i="0" sz="1800" u="none" cap="none" strike="noStrike">
              <a:solidFill>
                <a:srgbClr val="FFFFFF"/>
              </a:solidFill>
            </a:endParaRPr>
          </a:p>
        </p:txBody>
      </p:sp>
      <p:sp>
        <p:nvSpPr>
          <p:cNvPr id="659" name="Google Shape;659;g3f73ffa0c65_0_15"/>
          <p:cNvSpPr/>
          <p:nvPr/>
        </p:nvSpPr>
        <p:spPr>
          <a:xfrm>
            <a:off x="357366" y="2046034"/>
            <a:ext cx="5575800" cy="1073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процессе формирования технических заданий на нефтесервисные работы наблюдаются дополнительные трудозатраты на ручную подготовку документов в формате Word и их последующее обновление при внесении изменений. Со стороны пользователей есть запрос на автоматизацию процесса сборки ТЗ и проверки его качества.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f73ffa0c65_0_15"/>
          <p:cNvSpPr/>
          <p:nvPr/>
        </p:nvSpPr>
        <p:spPr>
          <a:xfrm>
            <a:off x="443714" y="2251874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61" name="Google Shape;661;g3f73ffa0c65_0_15"/>
          <p:cNvSpPr/>
          <p:nvPr/>
        </p:nvSpPr>
        <p:spPr>
          <a:xfrm>
            <a:off x="355917" y="5165154"/>
            <a:ext cx="56874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Унификация подходов к рас</a:t>
            </a:r>
            <a:r>
              <a:rPr lang="ru-RU" sz="1100"/>
              <a:t>у</a:t>
            </a: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нификация подходов к формированию технических заданий на нефтесервисные работы и обеспечение единого стандарта взаимодействия между ВЗЛ на базе платформы ПРОСТОР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f73ffa0c65_0_15"/>
          <p:cNvSpPr/>
          <p:nvPr/>
        </p:nvSpPr>
        <p:spPr>
          <a:xfrm>
            <a:off x="462585" y="5381154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63" name="Google Shape;663;g3f73ffa0c65_0_15"/>
          <p:cNvSpPr/>
          <p:nvPr/>
        </p:nvSpPr>
        <p:spPr>
          <a:xfrm>
            <a:off x="347206" y="3183488"/>
            <a:ext cx="5565600" cy="10611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процессе работы с платформой ПРОСТОР наблюдаются дополнительные трудозатраты на поиск необходимых услуг и исполнителей, анализ аналогичных выполненных работ и ручной ввод данных. </a:t>
            </a:r>
            <a:r>
              <a:rPr lang="ru-RU" sz="1100"/>
              <a:t>Необходимо </a:t>
            </a:r>
            <a:r>
              <a:rPr b="0" i="0" lang="ru-RU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снизить ТРЗ за счет внедрения интеллектуального агента и интеграции с внутренними целевыми инструментами ИТ-Ландшафта.</a:t>
            </a:r>
            <a:endParaRPr sz="1100"/>
          </a:p>
        </p:txBody>
      </p:sp>
      <p:sp>
        <p:nvSpPr>
          <p:cNvPr id="664" name="Google Shape;664;g3f73ffa0c65_0_15"/>
          <p:cNvSpPr/>
          <p:nvPr/>
        </p:nvSpPr>
        <p:spPr>
          <a:xfrm>
            <a:off x="443714" y="3435679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65" name="Google Shape;665;g3f73ffa0c65_0_15"/>
          <p:cNvSpPr/>
          <p:nvPr/>
        </p:nvSpPr>
        <p:spPr>
          <a:xfrm>
            <a:off x="355917" y="6033999"/>
            <a:ext cx="56874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/>
              <a:t>Разработка функциональности «Умного конструктора ТЗ» для повышения эффективности работы пользователей, ускорения согласования и исключения ошибок при «ручной» перекладке данных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73ffa0c65_0_15"/>
          <p:cNvSpPr/>
          <p:nvPr/>
        </p:nvSpPr>
        <p:spPr>
          <a:xfrm>
            <a:off x="513385" y="6249999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67" name="Google Shape;667;g3f73ffa0c65_0_15"/>
          <p:cNvSpPr/>
          <p:nvPr/>
        </p:nvSpPr>
        <p:spPr>
          <a:xfrm>
            <a:off x="6118086" y="2036204"/>
            <a:ext cx="5545200" cy="1083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Техническое задание формируется в формате Word, прикрепляется к заявке в виде файла и обновляется вручную при внесении изменений</a:t>
            </a:r>
            <a:endParaRPr/>
          </a:p>
        </p:txBody>
      </p:sp>
      <p:sp>
        <p:nvSpPr>
          <p:cNvPr id="668" name="Google Shape;668;g3f73ffa0c65_0_15"/>
          <p:cNvSpPr/>
          <p:nvPr/>
        </p:nvSpPr>
        <p:spPr>
          <a:xfrm>
            <a:off x="6255234" y="2282684"/>
            <a:ext cx="2778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69" name="Google Shape;669;g3f73ffa0c65_0_15"/>
          <p:cNvSpPr/>
          <p:nvPr/>
        </p:nvSpPr>
        <p:spPr>
          <a:xfrm>
            <a:off x="6105594" y="5166367"/>
            <a:ext cx="56103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/>
              <a:t>Разработка функциональности «ИИ-агента умного поиска» для интеллектуальной поддержки заказчика при выборе услуг и исполнителей на основании накопленных данных платформы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f73ffa0c65_0_15"/>
          <p:cNvSpPr/>
          <p:nvPr/>
        </p:nvSpPr>
        <p:spPr>
          <a:xfrm>
            <a:off x="6304585" y="5371324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71" name="Google Shape;671;g3f73ffa0c65_0_15"/>
          <p:cNvSpPr/>
          <p:nvPr/>
        </p:nvSpPr>
        <p:spPr>
          <a:xfrm>
            <a:off x="6118086" y="3183488"/>
            <a:ext cx="5565600" cy="10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4000" lIns="612000" spcFirstLastPara="1" rIns="144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Отсутствие интеграций с внутренними целевыми инструментами ИТ-Ландшафта в рамках сквозного и рабочих процессов</a:t>
            </a:r>
            <a:endParaRPr/>
          </a:p>
        </p:txBody>
      </p:sp>
      <p:sp>
        <p:nvSpPr>
          <p:cNvPr id="672" name="Google Shape;672;g3f73ffa0c65_0_15"/>
          <p:cNvSpPr/>
          <p:nvPr/>
        </p:nvSpPr>
        <p:spPr>
          <a:xfrm>
            <a:off x="6326354" y="3476649"/>
            <a:ext cx="288000" cy="288000"/>
          </a:xfrm>
          <a:prstGeom prst="ellipse">
            <a:avLst/>
          </a:prstGeom>
          <a:solidFill>
            <a:srgbClr val="0045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73" name="Google Shape;673;g3f73ffa0c65_0_15"/>
          <p:cNvSpPr/>
          <p:nvPr/>
        </p:nvSpPr>
        <p:spPr>
          <a:xfrm>
            <a:off x="358246" y="4367293"/>
            <a:ext cx="11307177" cy="64815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004596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FFFFF"/>
                </a:solidFill>
              </a:rPr>
              <a:t>БИЗНЕС-ТРЕБОВАНИЯ</a:t>
            </a:r>
            <a:endParaRPr b="1" i="0" sz="1800" u="none" cap="none" strike="noStrike">
              <a:solidFill>
                <a:srgbClr val="FFFFFF"/>
              </a:solidFill>
            </a:endParaRPr>
          </a:p>
        </p:txBody>
      </p:sp>
      <p:sp>
        <p:nvSpPr>
          <p:cNvPr id="674" name="Google Shape;674;g3f73ffa0c65_0_15"/>
          <p:cNvSpPr/>
          <p:nvPr/>
        </p:nvSpPr>
        <p:spPr>
          <a:xfrm>
            <a:off x="356456" y="1123315"/>
            <a:ext cx="5545800" cy="73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Предпосылки (проблемы/возможности)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f73ffa0c65_0_15"/>
          <p:cNvSpPr/>
          <p:nvPr/>
        </p:nvSpPr>
        <p:spPr>
          <a:xfrm>
            <a:off x="6096855" y="1123314"/>
            <a:ext cx="5545800" cy="73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Текущая ситуация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73ffa0c65_0_789"/>
          <p:cNvSpPr/>
          <p:nvPr/>
        </p:nvSpPr>
        <p:spPr>
          <a:xfrm>
            <a:off x="0" y="0"/>
            <a:ext cx="6251700" cy="6799800"/>
          </a:xfrm>
          <a:prstGeom prst="rect">
            <a:avLst/>
          </a:prstGeom>
          <a:solidFill>
            <a:srgbClr val="E65907"/>
          </a:solidFill>
          <a:ln cap="flat" cmpd="sng" w="9525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f73ffa0c65_0_789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f73ffa0c65_0_789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3f73ffa0c65_0_789"/>
          <p:cNvSpPr txBox="1"/>
          <p:nvPr/>
        </p:nvSpPr>
        <p:spPr>
          <a:xfrm>
            <a:off x="692950" y="2957450"/>
            <a:ext cx="503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Ключевой функционал</a:t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685" name="Google Shape;685;g3f73ffa0c65_0_789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f73ffa0c65_0_789"/>
          <p:cNvSpPr/>
          <p:nvPr/>
        </p:nvSpPr>
        <p:spPr>
          <a:xfrm>
            <a:off x="6448610" y="290054"/>
            <a:ext cx="288000" cy="288000"/>
          </a:xfrm>
          <a:prstGeom prst="ellipse">
            <a:avLst/>
          </a:prstGeom>
          <a:solidFill>
            <a:srgbClr val="E6590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/>
          </a:p>
        </p:txBody>
      </p:sp>
      <p:sp>
        <p:nvSpPr>
          <p:cNvPr id="687" name="Google Shape;687;g3f73ffa0c65_0_789"/>
          <p:cNvSpPr/>
          <p:nvPr/>
        </p:nvSpPr>
        <p:spPr>
          <a:xfrm>
            <a:off x="6448610" y="1475999"/>
            <a:ext cx="288000" cy="288000"/>
          </a:xfrm>
          <a:prstGeom prst="ellipse">
            <a:avLst/>
          </a:prstGeom>
          <a:solidFill>
            <a:srgbClr val="E6590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/>
          </a:p>
        </p:txBody>
      </p:sp>
      <p:sp>
        <p:nvSpPr>
          <p:cNvPr id="688" name="Google Shape;688;g3f73ffa0c65_0_789"/>
          <p:cNvSpPr/>
          <p:nvPr/>
        </p:nvSpPr>
        <p:spPr>
          <a:xfrm>
            <a:off x="6448610" y="2746962"/>
            <a:ext cx="288000" cy="288000"/>
          </a:xfrm>
          <a:prstGeom prst="ellipse">
            <a:avLst/>
          </a:prstGeom>
          <a:solidFill>
            <a:srgbClr val="E6590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ru-RU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/>
          </a:p>
        </p:txBody>
      </p:sp>
      <p:sp>
        <p:nvSpPr>
          <p:cNvPr id="689" name="Google Shape;689;g3f73ffa0c65_0_789"/>
          <p:cNvSpPr/>
          <p:nvPr/>
        </p:nvSpPr>
        <p:spPr>
          <a:xfrm>
            <a:off x="6448610" y="3955454"/>
            <a:ext cx="288000" cy="288000"/>
          </a:xfrm>
          <a:prstGeom prst="ellipse">
            <a:avLst/>
          </a:prstGeom>
          <a:solidFill>
            <a:srgbClr val="E6590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ru-RU" sz="1600">
                <a:solidFill>
                  <a:srgbClr val="FFFFFF"/>
                </a:solidFill>
              </a:rPr>
              <a:t>4</a:t>
            </a:r>
            <a:endParaRPr sz="1600"/>
          </a:p>
        </p:txBody>
      </p:sp>
      <p:sp>
        <p:nvSpPr>
          <p:cNvPr id="690" name="Google Shape;690;g3f73ffa0c65_0_789"/>
          <p:cNvSpPr/>
          <p:nvPr/>
        </p:nvSpPr>
        <p:spPr>
          <a:xfrm>
            <a:off x="6448610" y="5203854"/>
            <a:ext cx="288000" cy="288000"/>
          </a:xfrm>
          <a:prstGeom prst="ellipse">
            <a:avLst/>
          </a:prstGeom>
          <a:solidFill>
            <a:srgbClr val="E6590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ru-RU" sz="1600">
                <a:solidFill>
                  <a:srgbClr val="FFFFFF"/>
                </a:solidFill>
              </a:rPr>
              <a:t>5</a:t>
            </a:r>
            <a:endParaRPr sz="1600"/>
          </a:p>
        </p:txBody>
      </p:sp>
      <p:sp>
        <p:nvSpPr>
          <p:cNvPr id="691" name="Google Shape;691;g3f73ffa0c65_0_789"/>
          <p:cNvSpPr txBox="1"/>
          <p:nvPr/>
        </p:nvSpPr>
        <p:spPr>
          <a:xfrm>
            <a:off x="12735100" y="244775"/>
            <a:ext cx="57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/>
              <a:t>Умный поиск услуг</a:t>
            </a:r>
            <a:endParaRPr b="1" sz="1600"/>
          </a:p>
        </p:txBody>
      </p:sp>
      <p:sp>
        <p:nvSpPr>
          <p:cNvPr id="692" name="Google Shape;692;g3f73ffa0c65_0_789"/>
          <p:cNvSpPr txBox="1"/>
          <p:nvPr/>
        </p:nvSpPr>
        <p:spPr>
          <a:xfrm>
            <a:off x="12429100" y="1523425"/>
            <a:ext cx="529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/>
              <a:t>Конструктор ТЗ</a:t>
            </a:r>
            <a:endParaRPr b="1" sz="1600"/>
          </a:p>
        </p:txBody>
      </p:sp>
      <p:sp>
        <p:nvSpPr>
          <p:cNvPr id="693" name="Google Shape;693;g3f73ffa0c65_0_789"/>
          <p:cNvSpPr txBox="1"/>
          <p:nvPr/>
        </p:nvSpPr>
        <p:spPr>
          <a:xfrm>
            <a:off x="12686563" y="2499900"/>
            <a:ext cx="568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/>
              <a:t>Проверка качества созданного ТЗ</a:t>
            </a:r>
            <a:endParaRPr b="1" sz="1600"/>
          </a:p>
        </p:txBody>
      </p:sp>
      <p:sp>
        <p:nvSpPr>
          <p:cNvPr id="694" name="Google Shape;694;g3f73ffa0c65_0_789"/>
          <p:cNvSpPr txBox="1"/>
          <p:nvPr/>
        </p:nvSpPr>
        <p:spPr>
          <a:xfrm>
            <a:off x="12853013" y="5475238"/>
            <a:ext cx="39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/>
              <a:t>Сквозная интеграция</a:t>
            </a:r>
            <a:endParaRPr b="1" sz="1600"/>
          </a:p>
        </p:txBody>
      </p:sp>
      <p:sp>
        <p:nvSpPr>
          <p:cNvPr id="695" name="Google Shape;695;g3f73ffa0c65_0_789"/>
          <p:cNvSpPr txBox="1"/>
          <p:nvPr/>
        </p:nvSpPr>
        <p:spPr>
          <a:xfrm>
            <a:off x="12909125" y="6583025"/>
            <a:ext cx="374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/>
              <a:t>А</a:t>
            </a:r>
            <a:r>
              <a:rPr b="1" lang="ru-RU" sz="1600"/>
              <a:t>налитическая отчетность</a:t>
            </a:r>
            <a:endParaRPr b="1" sz="1600"/>
          </a:p>
        </p:txBody>
      </p:sp>
      <p:sp>
        <p:nvSpPr>
          <p:cNvPr id="696" name="Google Shape;696;g3f73ffa0c65_0_789"/>
          <p:cNvSpPr txBox="1"/>
          <p:nvPr/>
        </p:nvSpPr>
        <p:spPr>
          <a:xfrm>
            <a:off x="12735100" y="588875"/>
            <a:ext cx="5143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обработка запроса на естественном языке, подбор релевантных услуг, исполнителей, похожих кейсов</a:t>
            </a:r>
            <a:endParaRPr sz="1300"/>
          </a:p>
        </p:txBody>
      </p:sp>
      <p:sp>
        <p:nvSpPr>
          <p:cNvPr id="697" name="Google Shape;697;g3f73ffa0c65_0_789"/>
          <p:cNvSpPr txBox="1"/>
          <p:nvPr/>
        </p:nvSpPr>
        <p:spPr>
          <a:xfrm>
            <a:off x="12429100" y="1913750"/>
            <a:ext cx="5755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/>
              <a:t>сборка ТЗ из типовых блоков</a:t>
            </a:r>
            <a:endParaRPr sz="1300"/>
          </a:p>
        </p:txBody>
      </p:sp>
      <p:sp>
        <p:nvSpPr>
          <p:cNvPr id="698" name="Google Shape;698;g3f73ffa0c65_0_789"/>
          <p:cNvSpPr txBox="1"/>
          <p:nvPr/>
        </p:nvSpPr>
        <p:spPr>
          <a:xfrm>
            <a:off x="12783638" y="2965963"/>
            <a:ext cx="575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процент готовности, риски и рекомендации по доработке</a:t>
            </a:r>
            <a:endParaRPr sz="1200"/>
          </a:p>
        </p:txBody>
      </p:sp>
      <p:sp>
        <p:nvSpPr>
          <p:cNvPr id="699" name="Google Shape;699;g3f73ffa0c65_0_789"/>
          <p:cNvSpPr txBox="1"/>
          <p:nvPr/>
        </p:nvSpPr>
        <p:spPr>
          <a:xfrm>
            <a:off x="12853013" y="5895388"/>
            <a:ext cx="575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автоперенос данных из диалога с ИИ в конструктор ТЗ</a:t>
            </a:r>
            <a:endParaRPr sz="1200"/>
          </a:p>
        </p:txBody>
      </p:sp>
      <p:sp>
        <p:nvSpPr>
          <p:cNvPr id="700" name="Google Shape;700;g3f73ffa0c65_0_789"/>
          <p:cNvSpPr txBox="1"/>
          <p:nvPr/>
        </p:nvSpPr>
        <p:spPr>
          <a:xfrm>
            <a:off x="12853025" y="7028200"/>
            <a:ext cx="476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популярные услуги, типовые ошибки, незаполненные поля, кандидаты в типовые продукты</a:t>
            </a:r>
            <a:endParaRPr sz="1200"/>
          </a:p>
        </p:txBody>
      </p:sp>
      <p:graphicFrame>
        <p:nvGraphicFramePr>
          <p:cNvPr id="701" name="Google Shape;701;g3f73ffa0c65_0_789"/>
          <p:cNvGraphicFramePr/>
          <p:nvPr/>
        </p:nvGraphicFramePr>
        <p:xfrm>
          <a:off x="7092663" y="24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{ED713249-070B-4471-BF05-97D7B00ACB25}</a:tableStyleId>
              </a:tblPr>
              <a:tblGrid>
                <a:gridCol w="4764600"/>
              </a:tblGrid>
              <a:tr h="41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600">
                          <a:solidFill>
                            <a:schemeClr val="dk2"/>
                          </a:solidFill>
                        </a:rPr>
                        <a:t>Умный поиск услуг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2"/>
                          </a:solidFill>
                        </a:rPr>
                        <a:t>обработка запроса на естественном языке, подбор релевантных услуг, исполнителей, похожих кейсов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2" name="Google Shape;702;g3f73ffa0c65_0_789"/>
          <p:cNvGraphicFramePr/>
          <p:nvPr/>
        </p:nvGraphicFramePr>
        <p:xfrm>
          <a:off x="7166000" y="1475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{ED713249-070B-4471-BF05-97D7B00ACB25}</a:tableStyleId>
              </a:tblPr>
              <a:tblGrid>
                <a:gridCol w="4513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2"/>
                          </a:solidFill>
                        </a:rPr>
                        <a:t>Конструктор ТЗ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2"/>
                          </a:solidFill>
                        </a:rPr>
                        <a:t>сборка ТЗ из типовых блоков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3" name="Google Shape;703;g3f73ffa0c65_0_789"/>
          <p:cNvGraphicFramePr/>
          <p:nvPr/>
        </p:nvGraphicFramePr>
        <p:xfrm>
          <a:off x="7097188" y="267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{ED713249-070B-4471-BF05-97D7B00ACB25}</a:tableStyleId>
              </a:tblPr>
              <a:tblGrid>
                <a:gridCol w="4849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2"/>
                          </a:solidFill>
                        </a:rPr>
                        <a:t>Проверка качества созданного ТЗ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2"/>
                          </a:solidFill>
                        </a:rPr>
                        <a:t>процент готовности, риски и рекомендации по доработке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4" name="Google Shape;704;g3f73ffa0c65_0_789"/>
          <p:cNvGraphicFramePr/>
          <p:nvPr/>
        </p:nvGraphicFramePr>
        <p:xfrm>
          <a:off x="7097188" y="3939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{ED713249-070B-4471-BF05-97D7B00ACB25}</a:tableStyleId>
              </a:tblPr>
              <a:tblGrid>
                <a:gridCol w="4849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2"/>
                          </a:solidFill>
                        </a:rPr>
                        <a:t>Сквозная интеграция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2"/>
                          </a:solidFill>
                        </a:rPr>
                        <a:t>автоперенос данных из диалога с ИИ в конструктор ТЗ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5" name="Google Shape;705;g3f73ffa0c65_0_789"/>
          <p:cNvGraphicFramePr/>
          <p:nvPr/>
        </p:nvGraphicFramePr>
        <p:xfrm>
          <a:off x="7035863" y="52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{ED713249-070B-4471-BF05-97D7B00ACB25}</a:tableStyleId>
              </a:tblPr>
              <a:tblGrid>
                <a:gridCol w="464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2"/>
                          </a:solidFill>
                        </a:rPr>
                        <a:t>Аналитическая отчетность</a:t>
                      </a:r>
                      <a:endParaRPr b="1" sz="16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>
                          <a:solidFill>
                            <a:schemeClr val="dk2"/>
                          </a:solidFill>
                        </a:rPr>
                        <a:t>популярные услуги, типовые ошибки, незаполненные поля, кандидаты в типовые продукты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74450dabd_5_2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712" name="Google Shape;712;g3f74450dabd_5_2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f74450dabd_5_2"/>
          <p:cNvSpPr txBox="1"/>
          <p:nvPr/>
        </p:nvSpPr>
        <p:spPr>
          <a:xfrm>
            <a:off x="692950" y="3063898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Экономический эффект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714" name="Google Shape;714;g3f74450dabd_5_2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3f74450dabd_5_2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f73ffa0c65_0_807"/>
          <p:cNvSpPr/>
          <p:nvPr/>
        </p:nvSpPr>
        <p:spPr>
          <a:xfrm>
            <a:off x="440175" y="1728497"/>
            <a:ext cx="5545800" cy="189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 sz="2500">
                <a:solidFill>
                  <a:srgbClr val="004077"/>
                </a:solidFill>
              </a:rPr>
              <a:t>ЧДД</a:t>
            </a:r>
            <a:endParaRPr b="1" sz="2500">
              <a:solidFill>
                <a:srgbClr val="00407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 sz="2600">
                <a:solidFill>
                  <a:srgbClr val="004077"/>
                </a:solidFill>
              </a:rPr>
              <a:t> 34 873 082</a:t>
            </a:r>
            <a:endParaRPr b="1" sz="2600">
              <a:solidFill>
                <a:srgbClr val="004077"/>
              </a:solidFill>
            </a:endParaRPr>
          </a:p>
        </p:txBody>
      </p:sp>
      <p:sp>
        <p:nvSpPr>
          <p:cNvPr id="722" name="Google Shape;722;g3f73ffa0c65_0_807"/>
          <p:cNvSpPr/>
          <p:nvPr/>
        </p:nvSpPr>
        <p:spPr>
          <a:xfrm>
            <a:off x="466450" y="4024815"/>
            <a:ext cx="5545800" cy="189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ru-RU" sz="2500">
                <a:solidFill>
                  <a:srgbClr val="004077"/>
                </a:solidFill>
              </a:rPr>
              <a:t>СРОК ОКУПАЕМОСТИ</a:t>
            </a:r>
            <a:endParaRPr b="1" sz="2500">
              <a:solidFill>
                <a:srgbClr val="00407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ru-RU" sz="2600">
                <a:solidFill>
                  <a:srgbClr val="004077"/>
                </a:solidFill>
              </a:rPr>
              <a:t>0,35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3" name="Google Shape;723;g3f73ffa0c65_0_807"/>
          <p:cNvSpPr/>
          <p:nvPr/>
        </p:nvSpPr>
        <p:spPr>
          <a:xfrm>
            <a:off x="6206000" y="1728497"/>
            <a:ext cx="5545800" cy="189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ru-RU" sz="2500">
                <a:solidFill>
                  <a:srgbClr val="004077"/>
                </a:solidFill>
              </a:rPr>
              <a:t>ИНДЕКС ДОХОДНОСТИ</a:t>
            </a:r>
            <a:endParaRPr b="1" sz="2500">
              <a:solidFill>
                <a:srgbClr val="00407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ru-RU" sz="2600">
                <a:solidFill>
                  <a:srgbClr val="004077"/>
                </a:solidFill>
              </a:rPr>
              <a:t>38,74</a:t>
            </a:r>
            <a:endParaRPr/>
          </a:p>
        </p:txBody>
      </p:sp>
      <p:sp>
        <p:nvSpPr>
          <p:cNvPr id="724" name="Google Shape;724;g3f73ffa0c65_0_807"/>
          <p:cNvSpPr/>
          <p:nvPr/>
        </p:nvSpPr>
        <p:spPr>
          <a:xfrm>
            <a:off x="6206000" y="4024814"/>
            <a:ext cx="5545800" cy="189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ru-RU" sz="2500">
                <a:solidFill>
                  <a:srgbClr val="004077"/>
                </a:solidFill>
              </a:rPr>
              <a:t>MIRR</a:t>
            </a:r>
            <a:endParaRPr b="1" sz="2500">
              <a:solidFill>
                <a:srgbClr val="00407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1" lang="ru-RU" sz="2600">
                <a:solidFill>
                  <a:srgbClr val="004077"/>
                </a:solidFill>
              </a:rPr>
              <a:t>6,1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5" name="Google Shape;725;g3f73ffa0c65_0_807"/>
          <p:cNvSpPr/>
          <p:nvPr/>
        </p:nvSpPr>
        <p:spPr>
          <a:xfrm>
            <a:off x="347200" y="333775"/>
            <a:ext cx="11296869" cy="781642"/>
          </a:xfrm>
          <a:custGeom>
            <a:rect b="b" l="l" r="r" t="t"/>
            <a:pathLst>
              <a:path extrusionOk="0" h="643327" w="824589">
                <a:moveTo>
                  <a:pt x="0" y="0"/>
                </a:moveTo>
                <a:lnTo>
                  <a:pt x="824589" y="0"/>
                </a:lnTo>
                <a:lnTo>
                  <a:pt x="824589" y="643327"/>
                </a:lnTo>
                <a:lnTo>
                  <a:pt x="0" y="643327"/>
                </a:lnTo>
                <a:close/>
              </a:path>
            </a:pathLst>
          </a:custGeom>
          <a:solidFill>
            <a:srgbClr val="E65907"/>
          </a:solidFill>
          <a:ln cap="flat" cmpd="sng" w="12700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ru-RU" sz="2000">
                <a:solidFill>
                  <a:srgbClr val="FFFFFF"/>
                </a:solidFill>
              </a:rPr>
              <a:t>ОСНОВНЫЕ ПОКАЗАТЕЛИ ЭФФЕКТИВНОСТИ</a:t>
            </a:r>
            <a:endParaRPr b="1" i="0" sz="20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748bd88aa_0_0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732" name="Google Shape;732;g3f748bd88aa_0_0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3f748bd88aa_0_0"/>
          <p:cNvSpPr txBox="1"/>
          <p:nvPr/>
        </p:nvSpPr>
        <p:spPr>
          <a:xfrm>
            <a:off x="692950" y="3040144"/>
            <a:ext cx="110115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Дорожная карта проекта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734" name="Google Shape;734;g3f748bd88aa_0_0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f748bd88aa_0_0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"/>
          <p:cNvSpPr/>
          <p:nvPr/>
        </p:nvSpPr>
        <p:spPr>
          <a:xfrm>
            <a:off x="187475" y="840525"/>
            <a:ext cx="11892600" cy="104700"/>
          </a:xfrm>
          <a:prstGeom prst="rect">
            <a:avLst/>
          </a:prstGeom>
          <a:solidFill>
            <a:srgbClr val="CDD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6"/>
          <p:cNvSpPr/>
          <p:nvPr/>
        </p:nvSpPr>
        <p:spPr>
          <a:xfrm>
            <a:off x="177880" y="960962"/>
            <a:ext cx="1440000" cy="238111"/>
          </a:xfrm>
          <a:prstGeom prst="chevron">
            <a:avLst>
              <a:gd fmla="val 50000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00" u="none" cap="none" strike="noStrike">
                <a:solidFill>
                  <a:srgbClr val="FFFFFF"/>
                </a:solidFill>
              </a:rPr>
              <a:t>1 ОЦЕНКА</a:t>
            </a:r>
            <a:endParaRPr b="1" i="0" sz="1800" u="none" cap="none" strike="noStrike">
              <a:solidFill>
                <a:schemeClr val="lt1"/>
              </a:solidFill>
            </a:endParaRPr>
          </a:p>
        </p:txBody>
      </p:sp>
      <p:sp>
        <p:nvSpPr>
          <p:cNvPr id="743" name="Google Shape;743;p6"/>
          <p:cNvSpPr/>
          <p:nvPr/>
        </p:nvSpPr>
        <p:spPr>
          <a:xfrm>
            <a:off x="1527175" y="961881"/>
            <a:ext cx="1807905" cy="246598"/>
          </a:xfrm>
          <a:prstGeom prst="chevron">
            <a:avLst>
              <a:gd fmla="val 50000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00" u="none" cap="none" strike="noStrike">
                <a:solidFill>
                  <a:srgbClr val="FFFFFF"/>
                </a:solidFill>
              </a:rPr>
              <a:t>2 ВЫБОР</a:t>
            </a:r>
            <a:endParaRPr b="1" i="0" sz="1800" u="none" cap="none" strike="noStrike">
              <a:solidFill>
                <a:schemeClr val="lt1"/>
              </a:solidFill>
            </a:endParaRPr>
          </a:p>
        </p:txBody>
      </p:sp>
      <p:sp>
        <p:nvSpPr>
          <p:cNvPr id="744" name="Google Shape;744;p6"/>
          <p:cNvSpPr/>
          <p:nvPr/>
        </p:nvSpPr>
        <p:spPr>
          <a:xfrm>
            <a:off x="3236774" y="961988"/>
            <a:ext cx="2124062" cy="247593"/>
          </a:xfrm>
          <a:prstGeom prst="chevron">
            <a:avLst>
              <a:gd fmla="val 50000" name="adj"/>
            </a:avLst>
          </a:prstGeom>
          <a:solidFill>
            <a:srgbClr val="0B9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00" u="none" cap="none" strike="noStrike">
                <a:solidFill>
                  <a:srgbClr val="FFFFFF"/>
                </a:solidFill>
              </a:rPr>
              <a:t>3 ОПРЕДЕЛЕНИЕ</a:t>
            </a:r>
            <a:endParaRPr b="1" i="0" sz="1800" u="none" cap="none" strike="noStrike">
              <a:solidFill>
                <a:schemeClr val="lt1"/>
              </a:solidFill>
            </a:endParaRPr>
          </a:p>
        </p:txBody>
      </p:sp>
      <p:sp>
        <p:nvSpPr>
          <p:cNvPr id="745" name="Google Shape;745;p6"/>
          <p:cNvSpPr/>
          <p:nvPr/>
        </p:nvSpPr>
        <p:spPr>
          <a:xfrm>
            <a:off x="5273341" y="961950"/>
            <a:ext cx="2999861" cy="247237"/>
          </a:xfrm>
          <a:prstGeom prst="chevron">
            <a:avLst>
              <a:gd fmla="val 50000" name="adj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00" u="none" cap="none" strike="noStrike">
                <a:solidFill>
                  <a:srgbClr val="FFFFFF"/>
                </a:solidFill>
              </a:rPr>
              <a:t>4 РЕАЛИЗАЦИЯ: РАЗРАБОТКА</a:t>
            </a:r>
            <a:endParaRPr b="1" i="0" sz="1800" u="none" cap="none" strike="noStrike">
              <a:solidFill>
                <a:schemeClr val="lt1"/>
              </a:solidFill>
            </a:endParaRPr>
          </a:p>
        </p:txBody>
      </p:sp>
      <p:graphicFrame>
        <p:nvGraphicFramePr>
          <p:cNvPr id="746" name="Google Shape;746;p6"/>
          <p:cNvGraphicFramePr/>
          <p:nvPr/>
        </p:nvGraphicFramePr>
        <p:xfrm>
          <a:off x="1525589" y="1589"/>
          <a:ext cx="1587" cy="1587"/>
        </p:xfrm>
        <a:graphic>
          <a:graphicData uri="http://schemas.openxmlformats.org/presentationml/2006/ole">
            <mc:AlternateContent>
              <mc:Choice Requires="v">
                <p:oleObj r:id="rId4" imgH="1587" imgW="1587" progId="TCLayout.ActiveDocument.1" spid="_x0000_s1">
                  <p:embed/>
                </p:oleObj>
              </mc:Choice>
              <mc:Fallback>
                <p:oleObj r:id="rId5" imgH="1587" imgW="1587" progId="TCLayout.ActiveDocument.1">
                  <p:embed/>
                  <p:pic>
                    <p:nvPicPr>
                      <p:cNvPr id="746" name="Google Shape;746;p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525589" y="1589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" name="Google Shape;747;p6"/>
          <p:cNvSpPr/>
          <p:nvPr/>
        </p:nvSpPr>
        <p:spPr>
          <a:xfrm>
            <a:off x="10965801" y="965675"/>
            <a:ext cx="1226100" cy="238200"/>
          </a:xfrm>
          <a:prstGeom prst="chevron">
            <a:avLst>
              <a:gd fmla="val 50000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72000" spcFirstLastPara="1" rIns="36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ЗАВЕРШЕНИЕ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6"/>
          <p:cNvSpPr txBox="1"/>
          <p:nvPr/>
        </p:nvSpPr>
        <p:spPr>
          <a:xfrm rot="-5400000">
            <a:off x="-25981" y="485054"/>
            <a:ext cx="5436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Начало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p6"/>
          <p:cNvGrpSpPr/>
          <p:nvPr/>
        </p:nvGrpSpPr>
        <p:grpSpPr>
          <a:xfrm>
            <a:off x="3279818" y="541906"/>
            <a:ext cx="174219" cy="284530"/>
            <a:chOff x="6119327" y="277909"/>
            <a:chExt cx="174219" cy="284530"/>
          </a:xfrm>
        </p:grpSpPr>
        <p:sp>
          <p:nvSpPr>
            <p:cNvPr id="750" name="Google Shape;750;p6"/>
            <p:cNvSpPr/>
            <p:nvPr/>
          </p:nvSpPr>
          <p:spPr>
            <a:xfrm rot="-5400002">
              <a:off x="6130031" y="267205"/>
              <a:ext cx="152811" cy="174219"/>
            </a:xfrm>
            <a:prstGeom prst="flowChartMerge">
              <a:avLst/>
            </a:prstGeom>
            <a:solidFill>
              <a:schemeClr val="accent5"/>
            </a:solidFill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" name="Google Shape;751;p6"/>
            <p:cNvCxnSpPr/>
            <p:nvPr/>
          </p:nvCxnSpPr>
          <p:spPr>
            <a:xfrm>
              <a:off x="6122345" y="339224"/>
              <a:ext cx="0" cy="223215"/>
            </a:xfrm>
            <a:prstGeom prst="straightConnector1">
              <a:avLst/>
            </a:prstGeom>
            <a:noFill/>
            <a:ln cap="flat" cmpd="sng" w="158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52" name="Google Shape;752;p6"/>
          <p:cNvSpPr txBox="1"/>
          <p:nvPr>
            <p:ph type="title"/>
          </p:nvPr>
        </p:nvSpPr>
        <p:spPr>
          <a:xfrm>
            <a:off x="313770" y="153532"/>
            <a:ext cx="8699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</a:pPr>
            <a:r>
              <a:rPr b="1" lang="ru-RU">
                <a:solidFill>
                  <a:srgbClr val="7E7E7E"/>
                </a:solidFill>
              </a:rPr>
              <a:t>ДОРОЖНАЯ КАРТА ПРОЕКТА</a:t>
            </a:r>
            <a:endParaRPr b="1">
              <a:solidFill>
                <a:srgbClr val="7E7E7E"/>
              </a:solidFill>
            </a:endParaRPr>
          </a:p>
        </p:txBody>
      </p:sp>
      <p:graphicFrame>
        <p:nvGraphicFramePr>
          <p:cNvPr id="753" name="Google Shape;753;p6"/>
          <p:cNvGraphicFramePr/>
          <p:nvPr/>
        </p:nvGraphicFramePr>
        <p:xfrm>
          <a:off x="187698" y="12142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{FEA6A8BE-69AF-4FFB-9DB2-1DC8E0AC6962}</a:tableStyleId>
              </a:tblPr>
              <a:tblGrid>
                <a:gridCol w="1345825"/>
                <a:gridCol w="1764300"/>
                <a:gridCol w="2131025"/>
                <a:gridCol w="2899825"/>
                <a:gridCol w="2635825"/>
                <a:gridCol w="1115900"/>
              </a:tblGrid>
              <a:tr h="2695600"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9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A8A8A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9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marR="0" rtl="0" algn="l">
                        <a:lnSpc>
                          <a:spcPct val="100952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A8A8A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1777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A8A8A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9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A8A8A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9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A8A8A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9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Symbols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A8A8A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54" name="Google Shape;754;p6"/>
          <p:cNvSpPr txBox="1"/>
          <p:nvPr/>
        </p:nvSpPr>
        <p:spPr>
          <a:xfrm>
            <a:off x="2618198" y="608421"/>
            <a:ext cx="83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94F3"/>
              </a:buClr>
              <a:buSzPts val="800"/>
              <a:buFont typeface="Arial"/>
              <a:buNone/>
            </a:pPr>
            <a:r>
              <a:rPr lang="ru-RU" sz="800">
                <a:solidFill>
                  <a:srgbClr val="3094F3"/>
                </a:solidFill>
              </a:rPr>
              <a:t>30.08.2026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"/>
          <p:cNvSpPr txBox="1"/>
          <p:nvPr/>
        </p:nvSpPr>
        <p:spPr>
          <a:xfrm>
            <a:off x="4767264" y="608409"/>
            <a:ext cx="83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3094F3"/>
                </a:solidFill>
              </a:rPr>
              <a:t>06.09.2026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"/>
          <p:cNvSpPr txBox="1"/>
          <p:nvPr/>
        </p:nvSpPr>
        <p:spPr>
          <a:xfrm>
            <a:off x="10344644" y="600589"/>
            <a:ext cx="83582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94F3"/>
              </a:buClr>
              <a:buSzPts val="800"/>
              <a:buFont typeface="Arial"/>
              <a:buNone/>
            </a:pPr>
            <a:r>
              <a:rPr lang="ru-RU" sz="800">
                <a:solidFill>
                  <a:srgbClr val="3094F3"/>
                </a:solidFill>
              </a:rPr>
              <a:t>01.11.2026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"/>
          <p:cNvSpPr/>
          <p:nvPr/>
        </p:nvSpPr>
        <p:spPr>
          <a:xfrm>
            <a:off x="8170065" y="961950"/>
            <a:ext cx="2877005" cy="247237"/>
          </a:xfrm>
          <a:prstGeom prst="chevron">
            <a:avLst>
              <a:gd fmla="val 50000" name="adj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00" u="none" cap="none" strike="noStrike">
                <a:solidFill>
                  <a:srgbClr val="FFFFFF"/>
                </a:solidFill>
              </a:rPr>
              <a:t>4 РЕАЛИЗАЦИЯ: РАЗРАБОТКА и ОПЭ</a:t>
            </a:r>
            <a:endParaRPr b="1" i="0" sz="1800" u="none" cap="none" strike="noStrike">
              <a:solidFill>
                <a:schemeClr val="lt1"/>
              </a:solidFill>
            </a:endParaRPr>
          </a:p>
        </p:txBody>
      </p:sp>
      <p:sp>
        <p:nvSpPr>
          <p:cNvPr id="758" name="Google Shape;758;p6"/>
          <p:cNvSpPr txBox="1"/>
          <p:nvPr/>
        </p:nvSpPr>
        <p:spPr>
          <a:xfrm>
            <a:off x="8497995" y="126023"/>
            <a:ext cx="3355837" cy="27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"/>
          <p:cNvSpPr/>
          <p:nvPr/>
        </p:nvSpPr>
        <p:spPr>
          <a:xfrm>
            <a:off x="311024" y="1311691"/>
            <a:ext cx="1160404" cy="431321"/>
          </a:xfrm>
          <a:prstGeom prst="homePlate">
            <a:avLst>
              <a:gd fmla="val 30727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7F7F7F"/>
                </a:solidFill>
              </a:rPr>
              <a:t>Анализ требований и формирование ЕДТ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"/>
          <p:cNvSpPr/>
          <p:nvPr/>
        </p:nvSpPr>
        <p:spPr>
          <a:xfrm>
            <a:off x="307650" y="1806975"/>
            <a:ext cx="1163700" cy="543600"/>
          </a:xfrm>
          <a:prstGeom prst="homePlate">
            <a:avLst>
              <a:gd fmla="val 28239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7F7F7F"/>
                </a:solidFill>
              </a:rPr>
              <a:t>Оценка трудозатрат и формирование бэклога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6"/>
          <p:cNvSpPr/>
          <p:nvPr/>
        </p:nvSpPr>
        <p:spPr>
          <a:xfrm>
            <a:off x="1678416" y="1309566"/>
            <a:ext cx="1458456" cy="384918"/>
          </a:xfrm>
          <a:prstGeom prst="homePlate">
            <a:avLst>
              <a:gd fmla="val 28404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808080"/>
                </a:solidFill>
              </a:rPr>
              <a:t>Утверждение технологического стека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"/>
          <p:cNvSpPr/>
          <p:nvPr/>
        </p:nvSpPr>
        <p:spPr>
          <a:xfrm>
            <a:off x="1835932" y="1746310"/>
            <a:ext cx="1461900" cy="296100"/>
          </a:xfrm>
          <a:prstGeom prst="homePlate">
            <a:avLst>
              <a:gd fmla="val 28239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7F7F7F"/>
                </a:solidFill>
              </a:rPr>
              <a:t>Выбор LLM-модели для ИИ-агента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"/>
          <p:cNvSpPr/>
          <p:nvPr/>
        </p:nvSpPr>
        <p:spPr>
          <a:xfrm>
            <a:off x="1837725" y="2090959"/>
            <a:ext cx="1458300" cy="287400"/>
          </a:xfrm>
          <a:prstGeom prst="homePlate">
            <a:avLst>
              <a:gd fmla="val 39829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800" u="none" cap="none" strike="noStrike">
                <a:solidFill>
                  <a:srgbClr val="0097D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8F8F8F"/>
                </a:solidFill>
              </a:rPr>
              <a:t>Определение подходов к векторному поиску и RAG</a:t>
            </a:r>
            <a:endParaRPr b="0" i="0" sz="1800" u="none" cap="none" strike="noStrike">
              <a:solidFill>
                <a:srgbClr val="8F8F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"/>
          <p:cNvSpPr/>
          <p:nvPr/>
        </p:nvSpPr>
        <p:spPr>
          <a:xfrm>
            <a:off x="1835925" y="2405714"/>
            <a:ext cx="1461900" cy="326700"/>
          </a:xfrm>
          <a:prstGeom prst="homePlate">
            <a:avLst>
              <a:gd fmla="val 31175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Выбор инструментов для CI/CD и деплоя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65" name="Google Shape;765;p6"/>
          <p:cNvGraphicFramePr/>
          <p:nvPr/>
        </p:nvGraphicFramePr>
        <p:xfrm>
          <a:off x="186324" y="39285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{FEA6A8BE-69AF-4FFB-9DB2-1DC8E0AC6962}</a:tableStyleId>
              </a:tblPr>
              <a:tblGrid>
                <a:gridCol w="1345300"/>
                <a:gridCol w="1676400"/>
                <a:gridCol w="2049775"/>
                <a:gridCol w="2156450"/>
                <a:gridCol w="914400"/>
                <a:gridCol w="2628900"/>
                <a:gridCol w="1122825"/>
              </a:tblGrid>
              <a:tr h="23780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78D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00478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АРТЕФАКТЫ ДЛЯ ПРИНЯТИЯ РЕШЕНИЙ</a:t>
                      </a:r>
                      <a:endParaRPr sz="180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78D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00478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ИНКРЕМЕНТАЛЬНЫЕ БИЗНЕС-РЕЗУЛЬТАТЫ*</a:t>
                      </a:r>
                      <a:endParaRPr sz="180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76450"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Артефакты проекта :</a:t>
                      </a:r>
                      <a:endParaRPr sz="1800" u="none" cap="none" strike="noStrike"/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Noto Sans Symbols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b="0" i="0" lang="ru-RU" sz="80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Бэклог проекта</a:t>
                      </a:r>
                      <a:endParaRPr sz="1800" u="none" cap="none" strike="noStrike"/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b="0" i="0" lang="ru-RU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Календарный план</a:t>
                      </a:r>
                      <a:endParaRPr sz="1800" u="none" cap="none" strike="noStrike"/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00"/>
                        <a:buFont typeface="Noto Sans Symbols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b="0" i="0" lang="ru-RU" sz="8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Артефакты проекта:</a:t>
                      </a:r>
                      <a:endParaRPr sz="1800" u="none" cap="none" strike="noStrike"/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t/>
                      </a:r>
                      <a:endParaRPr b="0" i="0" sz="850" u="none" cap="none" strike="noStrike">
                        <a:solidFill>
                          <a:srgbClr val="FFC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 </a:t>
                      </a:r>
                      <a:r>
                        <a:rPr lang="ru-RU" sz="850">
                          <a:latin typeface="Arial"/>
                          <a:ea typeface="Arial"/>
                          <a:cs typeface="Arial"/>
                          <a:sym typeface="Arial"/>
                        </a:rPr>
                        <a:t>Архитектурная документация</a:t>
                      </a:r>
                      <a:endParaRPr/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 </a:t>
                      </a:r>
                      <a:r>
                        <a:rPr lang="ru-RU" sz="850">
                          <a:latin typeface="Arial"/>
                          <a:ea typeface="Arial"/>
                          <a:cs typeface="Arial"/>
                          <a:sym typeface="Arial"/>
                        </a:rPr>
                        <a:t>Матрица технологического стека</a:t>
                      </a:r>
                      <a:endParaRPr sz="850">
                        <a:solidFill>
                          <a:srgbClr val="00B05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t/>
                      </a:r>
                      <a:endParaRPr b="0" i="0" sz="8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t/>
                      </a:r>
                      <a:endParaRPr b="0" i="0" sz="85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Артефакты проекта:</a:t>
                      </a:r>
                      <a:endParaRPr sz="850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t/>
                      </a:r>
                      <a:endParaRPr sz="850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 </a:t>
                      </a:r>
                      <a:r>
                        <a:rPr lang="ru-RU" sz="850">
                          <a:latin typeface="Arial"/>
                          <a:ea typeface="Arial"/>
                          <a:cs typeface="Arial"/>
                          <a:sym typeface="Arial"/>
                        </a:rPr>
                        <a:t>Диаграмма компонентов</a:t>
                      </a:r>
                      <a:endParaRPr/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 </a:t>
                      </a:r>
                      <a:r>
                        <a:rPr lang="ru-RU" sz="850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Схема развертывания</a:t>
                      </a:r>
                      <a:endParaRPr sz="850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 </a:t>
                      </a:r>
                      <a:r>
                        <a:rPr lang="ru-RU" sz="850">
                          <a:latin typeface="Arial"/>
                          <a:ea typeface="Arial"/>
                          <a:cs typeface="Arial"/>
                          <a:sym typeface="Arial"/>
                        </a:rPr>
                        <a:t>Типовая модель ТЗ</a:t>
                      </a:r>
                      <a:endParaRPr/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 </a:t>
                      </a:r>
                      <a:r>
                        <a:rPr lang="ru-RU" sz="850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Макеты интерфейса</a:t>
                      </a:r>
                      <a:endParaRPr sz="850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t/>
                      </a:r>
                      <a:endParaRPr sz="850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b="0" i="0" lang="ru-RU" sz="85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b="0" i="0" lang="ru-RU" sz="80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Релиз 1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– Разработка API конструктора ТЗ, поиска исполнителей и подключение базы заявок</a:t>
                      </a:r>
                      <a:endParaRPr sz="1800" u="none" cap="none" strike="noStrike"/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b="0" i="0" lang="ru-RU" sz="85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b="0" i="0" lang="ru-RU" sz="80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Результат: Функциональное ядро обоих решений</a:t>
                      </a:r>
                      <a:endParaRPr sz="800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Релиз 2 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 Реализация всех экранов конструктора, чат-интерфейса ИИ-агента, карточек услуг/исполнителей, дашборда</a:t>
                      </a:r>
                      <a:endParaRPr sz="8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Результат: Полнофункциональный интерфейс</a:t>
                      </a:r>
                      <a:endParaRPr sz="8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Релиз 3 –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Исправление багов, оптимизация производительности ИИ-агента, доработка UI/UX и написание тестов.</a:t>
                      </a:r>
                      <a:endParaRPr sz="8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Результат: Стабильная версия продукта</a:t>
                      </a:r>
                      <a:endParaRPr sz="8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Релиз 4 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 Запуск пилотной эксплуатации, сбор обратной связи, подготовка документации и презентаций на ИК и АК.</a:t>
                      </a:r>
                      <a:endParaRPr sz="8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2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lang="ru-RU" sz="85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r>
                        <a:rPr lang="ru-RU" sz="800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Результат: Готовый к защите продукт и пакет документов</a:t>
                      </a:r>
                      <a:endParaRPr sz="800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2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850"/>
                        <a:buFont typeface="Noto Sans Symbols"/>
                        <a:buNone/>
                      </a:pPr>
                      <a:r>
                        <a:rPr b="0" i="0" lang="ru-RU" sz="850" u="none" cap="none" strike="noStrike">
                          <a:solidFill>
                            <a:srgbClr val="7F7F7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 </a:t>
                      </a:r>
                      <a:r>
                        <a:rPr b="0" i="0" lang="ru-RU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Акт НМА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BFBFB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275">
                <a:tc gridSpan="7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0" marB="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766" name="Google Shape;766;p6"/>
          <p:cNvSpPr/>
          <p:nvPr/>
        </p:nvSpPr>
        <p:spPr>
          <a:xfrm>
            <a:off x="5369338" y="1257838"/>
            <a:ext cx="1529400" cy="467700"/>
          </a:xfrm>
          <a:prstGeom prst="homePlate">
            <a:avLst>
              <a:gd fmla="val 50000" name="adj"/>
            </a:avLst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700"/>
              <a:t>Релиз 1 – Бэкенд-ядро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"/>
          <p:cNvSpPr/>
          <p:nvPr/>
        </p:nvSpPr>
        <p:spPr>
          <a:xfrm>
            <a:off x="5929976" y="1774237"/>
            <a:ext cx="1713300" cy="467700"/>
          </a:xfrm>
          <a:prstGeom prst="homePlate">
            <a:avLst>
              <a:gd fmla="val 50000" name="adj"/>
            </a:avLst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700"/>
              <a:t>Релиз 2 – Фронтенд и пользовательские сценарии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"/>
          <p:cNvSpPr/>
          <p:nvPr/>
        </p:nvSpPr>
        <p:spPr>
          <a:xfrm>
            <a:off x="6615251" y="2365903"/>
            <a:ext cx="1713300" cy="420600"/>
          </a:xfrm>
          <a:prstGeom prst="homePlate">
            <a:avLst>
              <a:gd fmla="val 50000" name="adj"/>
            </a:avLst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700"/>
              <a:t>Релиз 3 – Доработка и оптимизация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6"/>
          <p:cNvSpPr/>
          <p:nvPr/>
        </p:nvSpPr>
        <p:spPr>
          <a:xfrm>
            <a:off x="11007547" y="1284916"/>
            <a:ext cx="1072837" cy="467682"/>
          </a:xfrm>
          <a:prstGeom prst="homePlate">
            <a:avLst>
              <a:gd fmla="val 50000" name="adj"/>
            </a:avLst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Оформление закрывающей документации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"/>
          <p:cNvSpPr/>
          <p:nvPr/>
        </p:nvSpPr>
        <p:spPr>
          <a:xfrm>
            <a:off x="7662188" y="3508646"/>
            <a:ext cx="1713300" cy="326700"/>
          </a:xfrm>
          <a:prstGeom prst="homePlate">
            <a:avLst>
              <a:gd fmla="val 50000" name="adj"/>
            </a:avLst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ПСИ, Тестирование, Проведение ОПЭ, минорный релиз по итогам ОПЭ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"/>
          <p:cNvSpPr/>
          <p:nvPr/>
        </p:nvSpPr>
        <p:spPr>
          <a:xfrm>
            <a:off x="8328675" y="1322800"/>
            <a:ext cx="2628900" cy="326700"/>
          </a:xfrm>
          <a:prstGeom prst="homePlate">
            <a:avLst>
              <a:gd fmla="val 50000" name="adj"/>
            </a:avLst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700"/>
              <a:t>Релиз 4 – ОПЭ и подготовка к защите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2" name="Google Shape;772;p6"/>
          <p:cNvGrpSpPr/>
          <p:nvPr/>
        </p:nvGrpSpPr>
        <p:grpSpPr>
          <a:xfrm>
            <a:off x="5428856" y="539281"/>
            <a:ext cx="174219" cy="284530"/>
            <a:chOff x="6119327" y="277909"/>
            <a:chExt cx="174219" cy="284530"/>
          </a:xfrm>
        </p:grpSpPr>
        <p:sp>
          <p:nvSpPr>
            <p:cNvPr id="773" name="Google Shape;773;p6"/>
            <p:cNvSpPr/>
            <p:nvPr/>
          </p:nvSpPr>
          <p:spPr>
            <a:xfrm rot="-5400002">
              <a:off x="6130031" y="267205"/>
              <a:ext cx="152811" cy="174219"/>
            </a:xfrm>
            <a:prstGeom prst="flowChartMerge">
              <a:avLst/>
            </a:prstGeom>
            <a:solidFill>
              <a:schemeClr val="accent5"/>
            </a:solidFill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4" name="Google Shape;774;p6"/>
            <p:cNvCxnSpPr/>
            <p:nvPr/>
          </p:nvCxnSpPr>
          <p:spPr>
            <a:xfrm>
              <a:off x="6122345" y="339224"/>
              <a:ext cx="0" cy="223215"/>
            </a:xfrm>
            <a:prstGeom prst="straightConnector1">
              <a:avLst/>
            </a:prstGeom>
            <a:noFill/>
            <a:ln cap="flat" cmpd="sng" w="158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75" name="Google Shape;775;p6"/>
          <p:cNvGrpSpPr/>
          <p:nvPr/>
        </p:nvGrpSpPr>
        <p:grpSpPr>
          <a:xfrm>
            <a:off x="8328659" y="536130"/>
            <a:ext cx="174202" cy="284530"/>
            <a:chOff x="6119327" y="277909"/>
            <a:chExt cx="174219" cy="284530"/>
          </a:xfrm>
        </p:grpSpPr>
        <p:sp>
          <p:nvSpPr>
            <p:cNvPr id="776" name="Google Shape;776;p6"/>
            <p:cNvSpPr/>
            <p:nvPr/>
          </p:nvSpPr>
          <p:spPr>
            <a:xfrm rot="-5400002">
              <a:off x="6130031" y="267205"/>
              <a:ext cx="152811" cy="174219"/>
            </a:xfrm>
            <a:prstGeom prst="flowChartMerge">
              <a:avLst/>
            </a:prstGeom>
            <a:solidFill>
              <a:schemeClr val="accent5"/>
            </a:solidFill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7" name="Google Shape;777;p6"/>
            <p:cNvCxnSpPr/>
            <p:nvPr/>
          </p:nvCxnSpPr>
          <p:spPr>
            <a:xfrm>
              <a:off x="6122345" y="339224"/>
              <a:ext cx="0" cy="223215"/>
            </a:xfrm>
            <a:prstGeom prst="straightConnector1">
              <a:avLst/>
            </a:prstGeom>
            <a:noFill/>
            <a:ln cap="flat" cmpd="sng" w="158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78" name="Google Shape;778;p6"/>
          <p:cNvSpPr txBox="1"/>
          <p:nvPr/>
        </p:nvSpPr>
        <p:spPr>
          <a:xfrm>
            <a:off x="7662205" y="605734"/>
            <a:ext cx="83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3094F3"/>
                </a:solidFill>
              </a:rPr>
              <a:t>18.10.2026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6"/>
          <p:cNvCxnSpPr/>
          <p:nvPr/>
        </p:nvCxnSpPr>
        <p:spPr>
          <a:xfrm>
            <a:off x="7393950" y="4226550"/>
            <a:ext cx="20400" cy="16200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0" name="Google Shape;780;p6"/>
          <p:cNvSpPr txBox="1"/>
          <p:nvPr/>
        </p:nvSpPr>
        <p:spPr>
          <a:xfrm>
            <a:off x="11427821" y="608756"/>
            <a:ext cx="83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94F3"/>
              </a:buClr>
              <a:buSzPts val="800"/>
              <a:buFont typeface="Arial"/>
              <a:buNone/>
            </a:pPr>
            <a:r>
              <a:rPr lang="ru-RU" sz="800">
                <a:solidFill>
                  <a:srgbClr val="3094F3"/>
                </a:solidFill>
              </a:rPr>
              <a:t>08.11.2026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1" name="Google Shape;781;p6"/>
          <p:cNvGrpSpPr/>
          <p:nvPr/>
        </p:nvGrpSpPr>
        <p:grpSpPr>
          <a:xfrm>
            <a:off x="1533530" y="576256"/>
            <a:ext cx="174219" cy="284515"/>
            <a:chOff x="6119327" y="277909"/>
            <a:chExt cx="174219" cy="284515"/>
          </a:xfrm>
        </p:grpSpPr>
        <p:sp>
          <p:nvSpPr>
            <p:cNvPr id="782" name="Google Shape;782;p6"/>
            <p:cNvSpPr/>
            <p:nvPr/>
          </p:nvSpPr>
          <p:spPr>
            <a:xfrm rot="-5400002">
              <a:off x="6130031" y="267205"/>
              <a:ext cx="152811" cy="174219"/>
            </a:xfrm>
            <a:prstGeom prst="flowChartMerge">
              <a:avLst/>
            </a:prstGeom>
            <a:solidFill>
              <a:schemeClr val="accent5"/>
            </a:solidFill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3" name="Google Shape;783;p6"/>
            <p:cNvCxnSpPr/>
            <p:nvPr/>
          </p:nvCxnSpPr>
          <p:spPr>
            <a:xfrm>
              <a:off x="6122345" y="339224"/>
              <a:ext cx="0" cy="223200"/>
            </a:xfrm>
            <a:prstGeom prst="straightConnector1">
              <a:avLst/>
            </a:prstGeom>
            <a:noFill/>
            <a:ln cap="flat" cmpd="sng" w="158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84" name="Google Shape;784;p6"/>
          <p:cNvSpPr txBox="1"/>
          <p:nvPr/>
        </p:nvSpPr>
        <p:spPr>
          <a:xfrm>
            <a:off x="825775" y="632925"/>
            <a:ext cx="74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94F3"/>
              </a:buClr>
              <a:buSzPts val="800"/>
              <a:buFont typeface="Arial"/>
              <a:buNone/>
            </a:pPr>
            <a:r>
              <a:rPr lang="ru-RU" sz="800">
                <a:solidFill>
                  <a:srgbClr val="3094F3"/>
                </a:solidFill>
              </a:rPr>
              <a:t>23.08.2026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"/>
          <p:cNvSpPr/>
          <p:nvPr/>
        </p:nvSpPr>
        <p:spPr>
          <a:xfrm>
            <a:off x="3412500" y="1323250"/>
            <a:ext cx="1147500" cy="384900"/>
          </a:xfrm>
          <a:prstGeom prst="homePlate">
            <a:avLst>
              <a:gd fmla="val 28404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808080"/>
                </a:solidFill>
              </a:rPr>
              <a:t>Проектирование архитектуры решения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"/>
          <p:cNvSpPr/>
          <p:nvPr/>
        </p:nvSpPr>
        <p:spPr>
          <a:xfrm>
            <a:off x="3849200" y="1746300"/>
            <a:ext cx="1529400" cy="384900"/>
          </a:xfrm>
          <a:prstGeom prst="homePlate">
            <a:avLst>
              <a:gd fmla="val 28404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808080"/>
                </a:solidFill>
              </a:rPr>
              <a:t>Проектирование схемы данных и API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6"/>
          <p:cNvSpPr/>
          <p:nvPr/>
        </p:nvSpPr>
        <p:spPr>
          <a:xfrm>
            <a:off x="4060075" y="3483125"/>
            <a:ext cx="1345800" cy="384900"/>
          </a:xfrm>
          <a:prstGeom prst="homePlate">
            <a:avLst>
              <a:gd fmla="val 28404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ru-RU" sz="800">
                <a:solidFill>
                  <a:srgbClr val="7F7F7F"/>
                </a:solidFill>
              </a:rPr>
              <a:t>Создание макетов интерфейса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6"/>
          <p:cNvSpPr/>
          <p:nvPr/>
        </p:nvSpPr>
        <p:spPr>
          <a:xfrm>
            <a:off x="3412500" y="2203900"/>
            <a:ext cx="1599900" cy="384900"/>
          </a:xfrm>
          <a:prstGeom prst="homePlate">
            <a:avLst>
              <a:gd fmla="val 28404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808080"/>
                </a:solidFill>
              </a:rPr>
              <a:t>Определение структуры ТЗ и типовых блоков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6"/>
          <p:cNvSpPr/>
          <p:nvPr/>
        </p:nvSpPr>
        <p:spPr>
          <a:xfrm>
            <a:off x="3655950" y="2632050"/>
            <a:ext cx="1732200" cy="326700"/>
          </a:xfrm>
          <a:prstGeom prst="homePlate">
            <a:avLst>
              <a:gd fmla="val 28404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b="0" i="0" lang="ru-RU" sz="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800">
                <a:solidFill>
                  <a:srgbClr val="808080"/>
                </a:solidFill>
              </a:rPr>
              <a:t>Формирование правил расчета рисков и рекомендаций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6"/>
          <p:cNvSpPr/>
          <p:nvPr/>
        </p:nvSpPr>
        <p:spPr>
          <a:xfrm>
            <a:off x="4060075" y="3002000"/>
            <a:ext cx="1368900" cy="420600"/>
          </a:xfrm>
          <a:prstGeom prst="homePlate">
            <a:avLst>
              <a:gd fmla="val 28404" name="adj"/>
            </a:avLst>
          </a:prstGeom>
          <a:solidFill>
            <a:srgbClr val="D8D8D8"/>
          </a:solidFill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2" marL="0" marR="0" rtl="0" algn="l">
              <a:lnSpc>
                <a:spcPct val="9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ru-RU" sz="800">
                <a:solidFill>
                  <a:srgbClr val="808080"/>
                </a:solidFill>
              </a:rPr>
              <a:t> Формирование правил расчета рисков и рекомендаций</a:t>
            </a:r>
            <a:endParaRPr sz="800">
              <a:solidFill>
                <a:srgbClr val="808080"/>
              </a:solidFill>
            </a:endParaRPr>
          </a:p>
        </p:txBody>
      </p:sp>
      <p:cxnSp>
        <p:nvCxnSpPr>
          <p:cNvPr id="791" name="Google Shape;791;p6"/>
          <p:cNvCxnSpPr/>
          <p:nvPr/>
        </p:nvCxnSpPr>
        <p:spPr>
          <a:xfrm>
            <a:off x="7388856" y="853138"/>
            <a:ext cx="5100" cy="30306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92" name="Google Shape;792;p6"/>
          <p:cNvSpPr txBox="1"/>
          <p:nvPr/>
        </p:nvSpPr>
        <p:spPr>
          <a:xfrm>
            <a:off x="4378900" y="7432350"/>
            <a:ext cx="948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ЗАКРАСИТЬ СЕРЫМ 1 И 2, ЗАПРАШИВАЕМ 5 МЛН НА ОПРЕДЕЛЕНИЕ, 4,3 МЛН НА РЕАЛИЗАЦИЮ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ТЕКУЩАЯ ИНФРА БУДЕТ ПЕРЕИСПОЛЬЗОВАНА МАКСИМАЛЬНО ДЛЯ ЭКОНОМИИИ КОМПАНИИ - СКОЛЬКО ТО ТАМ ДЕНЕГ</a:t>
            </a:r>
            <a:endParaRPr/>
          </a:p>
        </p:txBody>
      </p:sp>
      <p:sp>
        <p:nvSpPr>
          <p:cNvPr id="793" name="Google Shape;793;p6"/>
          <p:cNvSpPr/>
          <p:nvPr/>
        </p:nvSpPr>
        <p:spPr>
          <a:xfrm>
            <a:off x="166359" y="5818300"/>
            <a:ext cx="3113400" cy="238200"/>
          </a:xfrm>
          <a:prstGeom prst="chevron">
            <a:avLst>
              <a:gd fmla="val 50000" name="adj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</a:endParaRPr>
          </a:p>
        </p:txBody>
      </p:sp>
      <p:sp>
        <p:nvSpPr>
          <p:cNvPr id="794" name="Google Shape;794;p6"/>
          <p:cNvSpPr/>
          <p:nvPr/>
        </p:nvSpPr>
        <p:spPr>
          <a:xfrm>
            <a:off x="3225237" y="5819338"/>
            <a:ext cx="2124000" cy="247500"/>
          </a:xfrm>
          <a:prstGeom prst="chevron">
            <a:avLst>
              <a:gd fmla="val 50000" name="adj"/>
            </a:avLst>
          </a:prstGeom>
          <a:solidFill>
            <a:srgbClr val="0B9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000">
                <a:solidFill>
                  <a:schemeClr val="lt1"/>
                </a:solidFill>
              </a:rPr>
              <a:t>924 000</a:t>
            </a:r>
            <a:endParaRPr b="1" i="0" sz="1000" u="none" cap="none" strike="noStrike">
              <a:solidFill>
                <a:schemeClr val="lt1"/>
              </a:solidFill>
            </a:endParaRPr>
          </a:p>
        </p:txBody>
      </p:sp>
      <p:sp>
        <p:nvSpPr>
          <p:cNvPr id="795" name="Google Shape;795;p6"/>
          <p:cNvSpPr/>
          <p:nvPr/>
        </p:nvSpPr>
        <p:spPr>
          <a:xfrm>
            <a:off x="5261804" y="5819300"/>
            <a:ext cx="3000000" cy="247200"/>
          </a:xfrm>
          <a:prstGeom prst="chevron">
            <a:avLst>
              <a:gd fmla="val 50000" name="adj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000">
                <a:solidFill>
                  <a:schemeClr val="lt1"/>
                </a:solidFill>
              </a:rPr>
              <a:t>3 500 000 </a:t>
            </a:r>
            <a:endParaRPr b="1" i="0" sz="1000" u="none" cap="none" strike="noStrike">
              <a:solidFill>
                <a:schemeClr val="lt1"/>
              </a:solidFill>
            </a:endParaRPr>
          </a:p>
        </p:txBody>
      </p:sp>
      <p:sp>
        <p:nvSpPr>
          <p:cNvPr id="796" name="Google Shape;796;p6"/>
          <p:cNvSpPr/>
          <p:nvPr/>
        </p:nvSpPr>
        <p:spPr>
          <a:xfrm>
            <a:off x="10954250" y="5823025"/>
            <a:ext cx="1237800" cy="238200"/>
          </a:xfrm>
          <a:prstGeom prst="chevron">
            <a:avLst>
              <a:gd fmla="val 50000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45700" lIns="72000" spcFirstLastPara="1" rIns="36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6"/>
          <p:cNvSpPr/>
          <p:nvPr/>
        </p:nvSpPr>
        <p:spPr>
          <a:xfrm>
            <a:off x="8158528" y="5819300"/>
            <a:ext cx="2877000" cy="247200"/>
          </a:xfrm>
          <a:prstGeom prst="chevron">
            <a:avLst>
              <a:gd fmla="val 50000" name="adj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000">
                <a:solidFill>
                  <a:srgbClr val="FFFFFF"/>
                </a:solidFill>
              </a:rPr>
              <a:t>300 000</a:t>
            </a:r>
            <a:endParaRPr b="1" i="0" sz="1000" u="none" cap="none" strike="noStrike">
              <a:solidFill>
                <a:schemeClr val="lt1"/>
              </a:solidFill>
            </a:endParaRPr>
          </a:p>
        </p:txBody>
      </p:sp>
      <p:sp>
        <p:nvSpPr>
          <p:cNvPr id="798" name="Google Shape;798;p6"/>
          <p:cNvSpPr txBox="1"/>
          <p:nvPr/>
        </p:nvSpPr>
        <p:spPr>
          <a:xfrm>
            <a:off x="775588" y="6209050"/>
            <a:ext cx="9486300" cy="554100"/>
          </a:xfrm>
          <a:prstGeom prst="rect">
            <a:avLst/>
          </a:prstGeom>
          <a:noFill/>
          <a:ln cap="flat" cmpd="sng" w="9525">
            <a:solidFill>
              <a:srgbClr val="E659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/>
              <a:t>Максимальное </a:t>
            </a:r>
            <a:r>
              <a:rPr b="1" lang="ru-RU" sz="1200"/>
              <a:t>переиспользование текущей инфраструктуры </a:t>
            </a:r>
            <a:r>
              <a:rPr lang="ru-RU" sz="1200"/>
              <a:t>платформы Простор без создания новой ИТ-инфраструктуры — </a:t>
            </a:r>
            <a:r>
              <a:rPr b="1" lang="ru-RU" sz="1200"/>
              <a:t>экономия компании порядка 5–7 млн ₽ на капитальных затратах. </a:t>
            </a:r>
            <a:endParaRPr b="1" sz="1200"/>
          </a:p>
        </p:txBody>
      </p:sp>
      <p:sp>
        <p:nvSpPr>
          <p:cNvPr id="799" name="Google Shape;799;p6"/>
          <p:cNvSpPr/>
          <p:nvPr/>
        </p:nvSpPr>
        <p:spPr>
          <a:xfrm>
            <a:off x="733438" y="6185800"/>
            <a:ext cx="360300" cy="4314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E6590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6"/>
          <p:cNvSpPr/>
          <p:nvPr/>
        </p:nvSpPr>
        <p:spPr>
          <a:xfrm flipH="1">
            <a:off x="9938175" y="6185800"/>
            <a:ext cx="360300" cy="3849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E6590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f73ffa0c65_0_892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807" name="Google Shape;807;g3f73ffa0c65_0_892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g3f73ffa0c65_0_892"/>
          <p:cNvSpPr txBox="1"/>
          <p:nvPr/>
        </p:nvSpPr>
        <p:spPr>
          <a:xfrm>
            <a:off x="692950" y="2923995"/>
            <a:ext cx="110115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Состав и должности управляющего комитета проекта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809" name="Google Shape;809;g3f73ffa0c65_0_892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3f73ffa0c65_0_892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6" name="Google Shape;816;g3f748bd88aa_0_57"/>
          <p:cNvGraphicFramePr/>
          <p:nvPr/>
        </p:nvGraphicFramePr>
        <p:xfrm>
          <a:off x="304235" y="820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{86FAF739-1F6A-4551-B12A-FB8EE0A74770}</a:tableStyleId>
              </a:tblPr>
              <a:tblGrid>
                <a:gridCol w="576225"/>
                <a:gridCol w="2210650"/>
                <a:gridCol w="2193975"/>
                <a:gridCol w="912575"/>
                <a:gridCol w="1330250"/>
                <a:gridCol w="2130675"/>
                <a:gridCol w="2229200"/>
              </a:tblGrid>
              <a:tr h="54232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14400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B3E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78D"/>
                        </a:buClr>
                        <a:buSzPts val="1400"/>
                        <a:buFont typeface="Arial"/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3094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ЗАКАЗЧИК</a:t>
                      </a:r>
                      <a:endParaRPr sz="1600" u="none" cap="none" strike="noStrike">
                        <a:solidFill>
                          <a:srgbClr val="3094F3"/>
                        </a:solidFill>
                      </a:endParaRPr>
                    </a:p>
                  </a:txBody>
                  <a:tcPr marT="72000" marB="72000" marR="14400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502675">
                <a:tc vMerge="1"/>
                <a:tc gridSpan="6"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600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Никишин Артем Александрович</a:t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542325">
                <a:tc vMerge="1"/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78D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3094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УПРАВЛЯЮЩИЙ КОМИТЕТ</a:t>
                      </a:r>
                      <a:endParaRPr b="1" sz="1600" u="none" cap="none" strike="noStrike">
                        <a:solidFill>
                          <a:srgbClr val="3094F3"/>
                        </a:solidFill>
                      </a:endParaRPr>
                    </a:p>
                  </a:txBody>
                  <a:tcPr marT="72000" marB="72000" marR="14400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905725">
                <a:tc vMerge="1"/>
                <a:tc gridSpan="3">
                  <a:txBody>
                    <a:bodyPr/>
                    <a:lstStyle/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Кушвид Владимир Александрович 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Гимаева Ирина Римовна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Шестаков Дмитрий Александрович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Фролов Ринат Владимирович</a:t>
                      </a:r>
                      <a:endParaRPr sz="1600" u="none" cap="none" strike="noStrike"/>
                    </a:p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Токаревских Анна Александровна</a:t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42325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14400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BA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78D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00478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Владелец ИТ-решения</a:t>
                      </a:r>
                      <a:endParaRPr b="1" sz="1600" u="none" cap="none" strike="noStrike"/>
                    </a:p>
                  </a:txBody>
                  <a:tcPr marT="72000" marB="72000" marR="14400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150">
                      <a:solidFill>
                        <a:srgbClr val="FFFFFF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78D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00478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</a:t>
                      </a:r>
                      <a:r>
                        <a:rPr b="1" lang="ru-RU" sz="1600">
                          <a:solidFill>
                            <a:srgbClr val="00478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уководитель проекта</a:t>
                      </a:r>
                      <a:endParaRPr b="1" sz="1600" u="none" cap="none" strike="noStrike"/>
                    </a:p>
                  </a:txBody>
                  <a:tcPr marT="72000" marB="72000" marR="144000" marL="144000" anchor="ctr">
                    <a:lnL cap="flat" cmpd="sng" w="57150">
                      <a:solidFill>
                        <a:srgbClr val="FFFFFF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</a:tr>
              <a:tr h="665250">
                <a:tc vMerge="1"/>
                <a:tc gridSpan="3">
                  <a:txBody>
                    <a:bodyPr/>
                    <a:lstStyle/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Никишин Артем Александрович</a:t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Гарифуллина Алина Дмитриевна</a:t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42325">
                <a:tc vMerge="1"/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78D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00478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ПРОЕКТНАЯ КОМАНДА</a:t>
                      </a:r>
                      <a:endParaRPr b="1" sz="1600" u="none" cap="none" strike="noStrike"/>
                    </a:p>
                  </a:txBody>
                  <a:tcPr marT="72000" marB="72000" marR="144000" marL="144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1467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А</a:t>
                      </a:r>
                      <a:r>
                        <a:rPr b="1" i="0" lang="ru-RU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налитик с</a:t>
                      </a:r>
                      <a:r>
                        <a:rPr b="1"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истем</a:t>
                      </a:r>
                      <a:endParaRPr b="1" sz="1600" u="none" cap="none" strike="noStrike"/>
                    </a:p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Гарифуллина Алина</a:t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Техлид</a:t>
                      </a:r>
                      <a:endParaRPr b="1" sz="1600" u="none" cap="none" strike="noStrike"/>
                    </a:p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Савин Егор</a:t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Разработчик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600" u="none" cap="none" strike="noStrike"/>
                    </a:p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Абдрахманов Данил</a:t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Тестировщик</a:t>
                      </a:r>
                      <a:endParaRPr b="1" sz="1600" u="none" cap="none" strike="noStrike"/>
                    </a:p>
                    <a:p>
                      <a:pPr indent="-168275" lvl="1" marL="144463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600"/>
                        <a:buFont typeface="Arial"/>
                        <a:buChar char="▪"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Шумилова Тамара</a:t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72000" marB="72000" marR="144000" marL="144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7" name="Google Shape;817;g3f748bd88aa_0_57"/>
          <p:cNvSpPr txBox="1"/>
          <p:nvPr/>
        </p:nvSpPr>
        <p:spPr>
          <a:xfrm>
            <a:off x="240770" y="126032"/>
            <a:ext cx="8699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8A8A8A"/>
                </a:solidFill>
              </a:rPr>
              <a:t>СТРУКТУРА УПРАВЛЕНИЯ ПРОЕКТОМ</a:t>
            </a:r>
            <a:endParaRPr b="1" sz="2400">
              <a:solidFill>
                <a:srgbClr val="8A8A8A"/>
              </a:solidFill>
            </a:endParaRPr>
          </a:p>
        </p:txBody>
      </p:sp>
      <p:sp>
        <p:nvSpPr>
          <p:cNvPr id="818" name="Google Shape;818;g3f748bd88aa_0_57"/>
          <p:cNvSpPr txBox="1"/>
          <p:nvPr/>
        </p:nvSpPr>
        <p:spPr>
          <a:xfrm rot="-5401363">
            <a:off x="-538326" y="1585651"/>
            <a:ext cx="22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КОНТРОЛЬ ПРОЕКТА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9" name="Google Shape;819;g3f748bd88aa_0_57"/>
          <p:cNvSpPr txBox="1"/>
          <p:nvPr/>
        </p:nvSpPr>
        <p:spPr>
          <a:xfrm rot="-5400000">
            <a:off x="-1022375" y="4604025"/>
            <a:ext cx="323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УПРАВЛЕНИЕ И РЕАЛИЗАЦИЯ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</a:rPr>
              <a:t>ПРОЕКТА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73ffa0c65_0_99"/>
          <p:cNvSpPr txBox="1"/>
          <p:nvPr>
            <p:ph type="title"/>
          </p:nvPr>
        </p:nvSpPr>
        <p:spPr>
          <a:xfrm>
            <a:off x="241427" y="284525"/>
            <a:ext cx="11412300" cy="69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rgbClr val="7E7E7E"/>
                </a:solidFill>
              </a:rPr>
              <a:t>СОСТАВ И ДОЛЖНОСТИ УПРАВЛЯЮЩЕГО КОМИТЕТА ПРОЕКТА</a:t>
            </a:r>
            <a:endParaRPr/>
          </a:p>
        </p:txBody>
      </p:sp>
      <p:graphicFrame>
        <p:nvGraphicFramePr>
          <p:cNvPr id="826" name="Google Shape;826;g3f73ffa0c65_0_99"/>
          <p:cNvGraphicFramePr/>
          <p:nvPr/>
        </p:nvGraphicFramePr>
        <p:xfrm>
          <a:off x="277013" y="808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{ED713249-070B-4471-BF05-97D7B00ACB25}</a:tableStyleId>
              </a:tblPr>
              <a:tblGrid>
                <a:gridCol w="3853325"/>
                <a:gridCol w="3394100"/>
                <a:gridCol w="4312525"/>
              </a:tblGrid>
              <a:tr h="59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lt1"/>
                          </a:solidFill>
                        </a:rPr>
                        <a:t>ФИО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lt1"/>
                          </a:solidFill>
                        </a:rPr>
                        <a:t>Роль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lt1"/>
                          </a:solidFill>
                        </a:rPr>
                        <a:t>Полномочия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1184625"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1"/>
                          </a:solidFill>
                        </a:rPr>
                        <a:t>Кушвид Владимир Александрович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</a:rPr>
                        <a:t>Генеральный директор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2"/>
                          </a:solidFill>
                        </a:rPr>
                        <a:t>Совершение сделок, распоряжение имуществом, представительство интересов, управление кадрами, издание приказов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935200"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1"/>
                          </a:solidFill>
                        </a:rPr>
                        <a:t>Гимаева Ирина Римовна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</a:rPr>
                        <a:t>Руководитель корпоративных образовательных проектов и взаимодействия с ВУЗами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2"/>
                          </a:solidFill>
                        </a:rPr>
                        <a:t>Взаимодействие с высшими учебными заведениями, корпоративное обучение и проекты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1184625"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2"/>
                          </a:solidFill>
                        </a:rPr>
                        <a:t>Токаревских Анна Александровна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</a:rPr>
                        <a:t>Начальник управления, Управление программного и продуктового управления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Arial"/>
                        <a:buNone/>
                      </a:pPr>
                      <a:r>
                        <a:rPr lang="ru-RU" sz="1600">
                          <a:solidFill>
                            <a:schemeClr val="dk2"/>
                          </a:solidFill>
                        </a:rPr>
                        <a:t>Стратегия и планирование, управление процессами и разработкой, работа с командой и ресурсами</a:t>
                      </a:r>
                      <a:endParaRPr sz="1600">
                        <a:solidFill>
                          <a:schemeClr val="dk1"/>
                        </a:solidFill>
                        <a:latin typeface="GPN_DIN Condensed"/>
                        <a:ea typeface="GPN_DIN Condensed"/>
                        <a:cs typeface="GPN_DIN Condensed"/>
                        <a:sym typeface="GPN_DIN Condense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935200"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2"/>
                          </a:solidFill>
                        </a:rPr>
                        <a:t>Шестаков Дмитрий Александрович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</a:rPr>
                        <a:t>Начальник департамента, Департамент технологий и клиентских решений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2"/>
                          </a:solidFill>
                        </a:rPr>
                        <a:t>Управление технологиями, работа с клиентскими решениями, административные и финансовые задачи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935200"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600">
                          <a:solidFill>
                            <a:schemeClr val="dk2"/>
                          </a:solidFill>
                        </a:rPr>
                        <a:t>Фролов Ринат Владимирович</a:t>
                      </a:r>
                      <a:endParaRPr b="1"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1"/>
                          </a:solidFill>
                        </a:rPr>
                        <a:t>Начальник управления, Управление технологического развития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1" marL="1588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>
                          <a:solidFill>
                            <a:schemeClr val="dk2"/>
                          </a:solidFill>
                        </a:rPr>
                        <a:t>Руководство и организация, технологическая политика, инновации и развитие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f73ffa0c65_0_901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833" name="Google Shape;833;g3f73ffa0c65_0_901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f73ffa0c65_0_901"/>
          <p:cNvSpPr txBox="1"/>
          <p:nvPr/>
        </p:nvSpPr>
        <p:spPr>
          <a:xfrm>
            <a:off x="692950" y="2990443"/>
            <a:ext cx="11011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ru-RU" sz="2400">
                <a:solidFill>
                  <a:schemeClr val="lt1"/>
                </a:solidFill>
              </a:rPr>
              <a:t>Проект решения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835" name="Google Shape;835;g3f73ffa0c65_0_901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f73ffa0c65_0_901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1" name="Google Shape;841;p9"/>
          <p:cNvGraphicFramePr/>
          <p:nvPr/>
        </p:nvGraphicFramePr>
        <p:xfrm>
          <a:off x="333838" y="631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{FA6F8AA7-1CA0-4DD2-9450-6A554C926110}</a:tableStyleId>
              </a:tblPr>
              <a:tblGrid>
                <a:gridCol w="379250"/>
                <a:gridCol w="11140750"/>
              </a:tblGrid>
              <a:tr h="500025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u="none" cap="none" strike="noStrike">
                          <a:solidFill>
                            <a:srgbClr val="00459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596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2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</a:rPr>
                        <a:t>Утвердить старт проекта </a:t>
                      </a:r>
                      <a:r>
                        <a:rPr lang="ru-RU" u="none" cap="none" strike="noStrike"/>
                        <a:t>«</a:t>
                      </a:r>
                      <a:r>
                        <a:rPr lang="ru-RU"/>
                        <a:t>Конструктор технического задания и ИИ-агент умного поиска для платформы ПРОСТОР</a:t>
                      </a:r>
                      <a:r>
                        <a:rPr lang="ru-RU" u="none" cap="none" strike="noStrike"/>
                        <a:t>» </a:t>
                      </a: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</a:rPr>
                        <a:t>с этапа </a:t>
                      </a:r>
                      <a:r>
                        <a:rPr b="0" i="0" lang="ru-RU" u="none" cap="none" strike="noStrike">
                          <a:solidFill>
                            <a:schemeClr val="dk1"/>
                          </a:solidFill>
                        </a:rPr>
                        <a:t>«</a:t>
                      </a:r>
                      <a:r>
                        <a:rPr lang="ru-RU"/>
                        <a:t>Определение</a:t>
                      </a:r>
                      <a:r>
                        <a:rPr b="0" i="0" lang="ru-RU" u="none" cap="none" strike="noStrike">
                          <a:solidFill>
                            <a:schemeClr val="dk1"/>
                          </a:solidFill>
                        </a:rPr>
                        <a:t>» по сценарию реализации «Изменение ИТ-решения» с реинжинирингом, методу реализации «Гибкий», сценарию инвестирования №3</a:t>
                      </a:r>
                      <a:endParaRPr b="0" i="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</a:rPr>
                        <a:t>Утвердить дорожную карту реализации и сроки этапов:  (сл. 1</a:t>
                      </a:r>
                      <a:r>
                        <a:rPr lang="ru-RU">
                          <a:solidFill>
                            <a:srgbClr val="000000"/>
                          </a:solidFill>
                        </a:rPr>
                        <a:t>0 - 11</a:t>
                      </a: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</a:rPr>
                        <a:t>)</a:t>
                      </a:r>
                      <a:endParaRPr b="0" i="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4800" marB="44800" marR="89625" marL="896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Утвердить на роль Владельца ИТ-Решения </a:t>
                      </a:r>
                      <a:r>
                        <a:rPr lang="ru-RU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Никишина Артема Александровича</a:t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Утвердить на роль Руководителя проекта </a:t>
                      </a:r>
                      <a:r>
                        <a:rPr lang="ru-RU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Гарифуллину Алину Дмитриевну</a:t>
                      </a:r>
                      <a:endParaRPr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None/>
                      </a:pPr>
                      <a:r>
                        <a:rPr lang="ru-RU">
                          <a:latin typeface="Arial"/>
                          <a:ea typeface="Arial"/>
                          <a:cs typeface="Arial"/>
                          <a:sym typeface="Arial"/>
                        </a:rPr>
                        <a:t>Показатели эффективности: снижение ТРЗ на, сокращение времени согласования, снижение ошибок при формировании ТЗ, использование накопленных данных для рекомендаций и анализа рисков</a:t>
                      </a:r>
                      <a:r>
                        <a:rPr b="0" i="0" lang="ru-RU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b="0" i="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u="none" cap="none" strike="noStrike"/>
                    </a:p>
                  </a:txBody>
                  <a:tcPr marT="44800" marB="44800" marR="89625" marL="896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2" name="Google Shape;842;p9"/>
          <p:cNvSpPr txBox="1"/>
          <p:nvPr>
            <p:ph type="title"/>
          </p:nvPr>
        </p:nvSpPr>
        <p:spPr>
          <a:xfrm>
            <a:off x="333852" y="126025"/>
            <a:ext cx="115200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400"/>
              <a:buFont typeface="Arial"/>
              <a:buNone/>
            </a:pPr>
            <a:r>
              <a:rPr b="1" lang="ru-RU"/>
              <a:t>ПРОЕКТ РЕШЕНИЯ</a:t>
            </a:r>
            <a:br>
              <a:rPr b="1" lang="ru-RU"/>
            </a:br>
            <a:endParaRPr b="1"/>
          </a:p>
        </p:txBody>
      </p:sp>
      <p:sp>
        <p:nvSpPr>
          <p:cNvPr id="843" name="Google Shape;843;p9"/>
          <p:cNvSpPr txBox="1"/>
          <p:nvPr/>
        </p:nvSpPr>
        <p:spPr>
          <a:xfrm>
            <a:off x="8588524" y="126023"/>
            <a:ext cx="3265308" cy="27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44" name="Google Shape;844;p9"/>
          <p:cNvGraphicFramePr/>
          <p:nvPr/>
        </p:nvGraphicFramePr>
        <p:xfrm>
          <a:off x="1909871" y="2190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{40E1E7D5-75C8-47CD-AE3F-F929637BCA6B}</a:tableStyleId>
              </a:tblPr>
              <a:tblGrid>
                <a:gridCol w="2813625"/>
                <a:gridCol w="3265575"/>
                <a:gridCol w="2798275"/>
              </a:tblGrid>
              <a:tr h="382775"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/>
                        <a:t>Этап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/>
                        <a:t>Начало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/>
                        <a:t>Окончание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775"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/>
                        <a:t>Определение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17.08.2026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06.09.2026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775"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/>
                        <a:t>Реализация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07.09.2026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01.11.2026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775"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/>
                        <a:t>Завершение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958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02.11.2026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958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u="none" cap="none" strike="noStrike"/>
                        <a:t>               </a:t>
                      </a:r>
                      <a:r>
                        <a:rPr lang="ru-RU"/>
                        <a:t>08.11.2026</a:t>
                      </a:r>
                      <a:endParaRPr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74450dabd_7_0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ГАЗПРОМ НЕФТЬ   </a:t>
            </a:r>
            <a:endParaRPr b="0" i="0" sz="9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3f74450dabd_7_0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3f74450dabd_7_0"/>
          <p:cNvSpPr txBox="1"/>
          <p:nvPr/>
        </p:nvSpPr>
        <p:spPr>
          <a:xfrm>
            <a:off x="692950" y="3040144"/>
            <a:ext cx="110115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ru-RU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Архитектура решения проекта</a:t>
            </a:r>
            <a:endParaRPr b="1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3f74450dabd_7_0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3f74450dabd_7_0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f74450dabd_7_10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60" name="Google Shape;860;g3f74450dabd_7_10"/>
          <p:cNvSpPr txBox="1"/>
          <p:nvPr>
            <p:ph type="title"/>
          </p:nvPr>
        </p:nvSpPr>
        <p:spPr>
          <a:xfrm>
            <a:off x="241420" y="286257"/>
            <a:ext cx="11615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800"/>
              <a:buFont typeface="Arial"/>
              <a:buNone/>
            </a:pPr>
            <a:r>
              <a:rPr b="1" lang="ru-RU"/>
              <a:t>ИСПОЛЬЗУЕМЫЕ ТЕХНОЛОГИИ, ИТ-ПРОДУКТЫ</a:t>
            </a:r>
            <a:r>
              <a:rPr b="1" lang="ru-RU">
                <a:solidFill>
                  <a:srgbClr val="8A8A8A"/>
                </a:solidFill>
              </a:rPr>
              <a:t>. КРИТИЧНОСТЬ ИМПОРТОЗАВИСИМЫХ РЕШЕНИЙ</a:t>
            </a:r>
            <a:endParaRPr b="1"/>
          </a:p>
        </p:txBody>
      </p:sp>
      <p:pic>
        <p:nvPicPr>
          <p:cNvPr id="861" name="Google Shape;861;g3f74450dabd_7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" y="1587"/>
            <a:ext cx="1587" cy="1587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g3f74450dabd_7_10"/>
          <p:cNvSpPr/>
          <p:nvPr/>
        </p:nvSpPr>
        <p:spPr>
          <a:xfrm>
            <a:off x="605434" y="5556901"/>
            <a:ext cx="4354200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just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Степень санкционности для всех элементов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3f74450dabd_7_10"/>
          <p:cNvSpPr/>
          <p:nvPr/>
        </p:nvSpPr>
        <p:spPr>
          <a:xfrm>
            <a:off x="456748" y="5957598"/>
            <a:ext cx="135300" cy="72000"/>
          </a:xfrm>
          <a:prstGeom prst="rect">
            <a:avLst/>
          </a:prstGeom>
          <a:solidFill>
            <a:srgbClr val="FAC519"/>
          </a:solidFill>
          <a:ln cap="flat" cmpd="sng" w="9525">
            <a:solidFill>
              <a:srgbClr val="002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3f74450dabd_7_10"/>
          <p:cNvSpPr/>
          <p:nvPr/>
        </p:nvSpPr>
        <p:spPr>
          <a:xfrm>
            <a:off x="456748" y="6145209"/>
            <a:ext cx="135300" cy="72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2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f74450dabd_7_10"/>
          <p:cNvSpPr/>
          <p:nvPr/>
        </p:nvSpPr>
        <p:spPr>
          <a:xfrm>
            <a:off x="456748" y="6307802"/>
            <a:ext cx="135300" cy="72000"/>
          </a:xfrm>
          <a:prstGeom prst="rect">
            <a:avLst/>
          </a:prstGeom>
          <a:solidFill>
            <a:srgbClr val="90EE90"/>
          </a:solidFill>
          <a:ln cap="flat" cmpd="sng" w="9525">
            <a:solidFill>
              <a:srgbClr val="002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g3f74450dabd_7_10"/>
          <p:cNvSpPr/>
          <p:nvPr/>
        </p:nvSpPr>
        <p:spPr>
          <a:xfrm>
            <a:off x="599915" y="5950668"/>
            <a:ext cx="5496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just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Несанкционное импортное ПО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3f74450dabd_7_10"/>
          <p:cNvSpPr/>
          <p:nvPr/>
        </p:nvSpPr>
        <p:spPr>
          <a:xfrm>
            <a:off x="591889" y="6145244"/>
            <a:ext cx="5504100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just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СПО без санкционных ограничений, может содержать санкционные риски (оценка и управление рисками на сл. 23.)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f74450dabd_7_10"/>
          <p:cNvSpPr/>
          <p:nvPr/>
        </p:nvSpPr>
        <p:spPr>
          <a:xfrm>
            <a:off x="591887" y="6318939"/>
            <a:ext cx="2707500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just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Российское решение вне реестра Российского ПО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3f74450dabd_7_10"/>
          <p:cNvSpPr/>
          <p:nvPr/>
        </p:nvSpPr>
        <p:spPr>
          <a:xfrm>
            <a:off x="456742" y="6459245"/>
            <a:ext cx="135300" cy="72000"/>
          </a:xfrm>
          <a:prstGeom prst="rect">
            <a:avLst/>
          </a:prstGeom>
          <a:solidFill>
            <a:srgbClr val="008000"/>
          </a:solidFill>
          <a:ln cap="flat" cmpd="sng" w="9525">
            <a:solidFill>
              <a:srgbClr val="002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3f74450dabd_7_10"/>
          <p:cNvSpPr/>
          <p:nvPr/>
        </p:nvSpPr>
        <p:spPr>
          <a:xfrm>
            <a:off x="591883" y="6462763"/>
            <a:ext cx="2417400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just">
              <a:lnSpc>
                <a:spcPct val="87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ПО включено в реестр Российского ПО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f74450dabd_7_10"/>
          <p:cNvSpPr/>
          <p:nvPr/>
        </p:nvSpPr>
        <p:spPr>
          <a:xfrm>
            <a:off x="456748" y="5740203"/>
            <a:ext cx="135300" cy="72000"/>
          </a:xfrm>
          <a:prstGeom prst="rect">
            <a:avLst/>
          </a:prstGeom>
          <a:solidFill>
            <a:srgbClr val="FF6347"/>
          </a:solidFill>
          <a:ln cap="flat" cmpd="sng" w="9525">
            <a:solidFill>
              <a:srgbClr val="002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f74450dabd_7_10"/>
          <p:cNvSpPr/>
          <p:nvPr/>
        </p:nvSpPr>
        <p:spPr>
          <a:xfrm>
            <a:off x="599915" y="5733273"/>
            <a:ext cx="5496000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just">
              <a:lnSpc>
                <a:spcPct val="87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Санкционное импортное ПО или СПО с санкционными ограничениями (заключение юристов ГПН </a:t>
            </a:r>
            <a:r>
              <a:rPr b="0" i="1" lang="ru-RU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системы ЛЕКСТ</a:t>
            </a:r>
            <a:r>
              <a:rPr b="0" i="1" lang="ru-RU" sz="8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g3f74450dabd_7_10"/>
          <p:cNvSpPr/>
          <p:nvPr/>
        </p:nvSpPr>
        <p:spPr>
          <a:xfrm>
            <a:off x="6151683" y="5950677"/>
            <a:ext cx="42192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just">
              <a:lnSpc>
                <a:spcPct val="99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ru-RU" sz="7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Собственная ИТ-разработка/ собственное решение в сфере ИТАТ (Собственная разработка ПО) - программное обеспечение, одним из обладателей исключительного права на которое является/ будет являться организация из ГК ГПН (включая программное обеспечение, созданное по заказу ГК ГПН аффилированными/ неаффилированными лицами). Определение КТ-314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99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ru-RU" sz="700" u="none" cap="none" strike="noStrike">
                <a:solidFill>
                  <a:srgbClr val="0042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4" name="Google Shape;874;g3f74450dabd_7_10"/>
          <p:cNvGraphicFramePr/>
          <p:nvPr/>
        </p:nvGraphicFramePr>
        <p:xfrm>
          <a:off x="428441" y="12057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{D6AC2BCF-09AB-4C85-8594-C6D45EFD64E4}</a:tableStyleId>
              </a:tblPr>
              <a:tblGrid>
                <a:gridCol w="439500"/>
                <a:gridCol w="439500"/>
                <a:gridCol w="671225"/>
                <a:gridCol w="671225"/>
                <a:gridCol w="880050"/>
                <a:gridCol w="934250"/>
                <a:gridCol w="661975"/>
                <a:gridCol w="784900"/>
                <a:gridCol w="606050"/>
                <a:gridCol w="672450"/>
                <a:gridCol w="754475"/>
                <a:gridCol w="795475"/>
                <a:gridCol w="590450"/>
                <a:gridCol w="686600"/>
                <a:gridCol w="1686475"/>
              </a:tblGrid>
              <a:tr h="8579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 решение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 система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Прикладная платформа и конфигурация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Системная платформа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СУБД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 АРМ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Комментарий</a:t>
                      </a:r>
                      <a:endParaRPr b="0" i="0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</a:tr>
              <a:tr h="54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Is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ru-RU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077"/>
                    </a:solidFill>
                  </a:tcPr>
                </a:tc>
              </a:tr>
              <a:tr h="90075">
                <a:tc row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000">
                          <a:solidFill>
                            <a:srgbClr val="3C3C3C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Убер услуг</a:t>
                      </a:r>
                      <a:endParaRPr sz="1000">
                        <a:solidFill>
                          <a:srgbClr val="3C3C3C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 Narrow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90EE90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3C3C3C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000">
                          <a:solidFill>
                            <a:srgbClr val="3C3C3C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Убер услуг</a:t>
                      </a:r>
                      <a:endParaRPr sz="1000">
                        <a:solidFill>
                          <a:srgbClr val="3C3C3C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 Narrow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548235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000">
                          <a:solidFill>
                            <a:srgbClr val="3C3C3C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Уберизация закупок</a:t>
                      </a:r>
                      <a:endParaRPr sz="100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90EE90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000">
                          <a:solidFill>
                            <a:srgbClr val="3C3C3C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Уберизация закупок</a:t>
                      </a:r>
                      <a:endParaRPr sz="1000">
                        <a:solidFill>
                          <a:srgbClr val="3C3C3C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548235"/>
                    </a:solidFill>
                  </a:tcPr>
                </a:tc>
                <a:tc gridSpan="2"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.NET 8</a:t>
                      </a:r>
                      <a:endParaRPr sz="1800" u="none" cap="none" strike="noStrike"/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rowSpan="6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MinIO (S3)/Cloudian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2750" marB="0" marR="2750" marL="27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gridSpan="2"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PostgreSQL 16 + pgvector</a:t>
                      </a:r>
                      <a:endParaRPr b="0" i="0" sz="1100" u="none" cap="none" strike="noStrike">
                        <a:solidFill>
                          <a:schemeClr val="dk2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548235"/>
                    </a:solidFill>
                  </a:tcPr>
                </a:tc>
                <a:tc rowSpan="6" hMerge="1"/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Astra Linux </a:t>
                      </a:r>
                      <a:r>
                        <a:rPr b="0" i="0" lang="ru-RU" sz="11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(SE)</a:t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548235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Astra Linux</a:t>
                      </a:r>
                      <a:r>
                        <a:rPr b="0" i="0" lang="ru-RU" sz="11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(SE)</a:t>
                      </a:r>
                      <a:endParaRPr b="0" i="0" sz="1100" u="none" cap="none" strike="noStrike">
                        <a:solidFill>
                          <a:schemeClr val="dk2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548235"/>
                    </a:solidFill>
                  </a:tcPr>
                </a:tc>
                <a:tc gridSpan="2"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Astra Linux (клиентская)</a:t>
                      </a:r>
                      <a:endParaRPr sz="1800" u="none" cap="none" strike="noStrike"/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548235"/>
                    </a:solidFill>
                  </a:tcPr>
                </a:tc>
                <a:tc rowSpan="6" hMerge="1"/>
                <a:tc row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 vMerge="1"/>
                <a:tc vMerge="1"/>
                <a:tc vMerge="1"/>
                <a:tc vMerge="1"/>
                <a:tc gridSpan="2" vMerge="1"/>
                <a:tc hMerge="1"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.NET 8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2750" marB="0" marR="2750" marL="2750" anchor="ctr">
                    <a:lnL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gridSpan="2" vMerge="1"/>
                <a:tc hMerge="1" vMerge="1"/>
                <a:tc vMerge="1"/>
                <a:tc vMerge="1"/>
                <a:tc gridSpan="2" vMerge="1"/>
                <a:tc hMerge="1" vMerge="1"/>
                <a:tc vMerge="1"/>
              </a:tr>
              <a:tr h="180150">
                <a:tc vMerge="1"/>
                <a:tc vMerge="1"/>
                <a:tc vMerge="1"/>
                <a:tc vMerge="1"/>
                <a:tc gridSpan="2" vMerge="1"/>
                <a:tc hMerge="1"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ReactJS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2750" marB="0" marR="2750" marL="27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gridSpan="2" vMerge="1"/>
                <a:tc hMerge="1" vMerge="1"/>
                <a:tc vMerge="1"/>
                <a:tc vMerge="1"/>
                <a:tc gridSpan="2" vMerge="1"/>
                <a:tc hMerge="1" vMerge="1"/>
                <a:tc vMerge="1"/>
              </a:tr>
              <a:tr h="322400">
                <a:tc vMerge="1"/>
                <a:tc vMerge="1"/>
                <a:tc vMerge="1"/>
                <a:tc vMerge="1"/>
                <a:tc gridSpan="2" vMerge="1"/>
                <a:tc hMerge="1"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1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 Nginx </a:t>
                      </a:r>
                      <a:endParaRPr sz="1800" u="none" cap="none" strike="noStrike"/>
                    </a:p>
                  </a:txBody>
                  <a:tcPr marT="2750" marB="0" marR="2750" marL="27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gridSpan="2" vMerge="1"/>
                <a:tc hMerge="1" vMerge="1"/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UBI (RedOS)</a:t>
                      </a:r>
                      <a:endParaRPr sz="1100" u="none" cap="none" strike="noStrike"/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548235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2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UBI (RedOS)</a:t>
                      </a:r>
                      <a:endParaRPr sz="1800" u="none" cap="none" strike="noStrike"/>
                    </a:p>
                  </a:txBody>
                  <a:tcPr marT="2550" marB="0" marR="2550" marL="2550" anchor="ctr">
                    <a:lnL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548235"/>
                    </a:solidFill>
                  </a:tcPr>
                </a:tc>
                <a:tc gridSpan="2" vMerge="1"/>
                <a:tc hMerge="1" vMerge="1"/>
                <a:tc vMerge="1"/>
              </a:tr>
              <a:tr h="169025">
                <a:tc vMerge="1"/>
                <a:tc vMerge="1"/>
                <a:tc vMerge="1"/>
                <a:tc vMerge="1"/>
                <a:tc gridSpan="2" vMerge="1"/>
                <a:tc hMerge="1"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TypeScript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2750" marB="0" marR="2750" marL="2750" anchor="ctr">
                    <a:lnR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gridSpan="2" vMerge="1"/>
                <a:tc hMerge="1" vMerge="1"/>
                <a:tc vMerge="1"/>
                <a:tc vMerge="1"/>
                <a:tc gridSpan="2" vMerge="1"/>
                <a:tc hMerge="1" vMerge="1"/>
                <a:tc vMerge="1"/>
              </a:tr>
              <a:tr h="169025">
                <a:tc vMerge="1"/>
                <a:tc vMerge="1"/>
                <a:tc vMerge="1"/>
                <a:tc vMerge="1"/>
                <a:tc gridSpan="2" vMerge="1"/>
                <a:tc hMerge="1"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 Narrow"/>
                        <a:buNone/>
                      </a:pPr>
                      <a:r>
                        <a:rPr b="0" i="0" lang="ru-RU" sz="11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Vite</a:t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2750" marB="0" marR="2750" marL="2750" anchor="ctr">
                    <a:lnR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000000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  <a:tc gridSpan="2" vMerge="1"/>
                <a:tc hMerge="1" vMerge="1"/>
                <a:tc vMerge="1"/>
                <a:tc vMerge="1"/>
                <a:tc gridSpan="2" vMerge="1"/>
                <a:tc hMerge="1" vMerge="1"/>
                <a:tc vMerge="1"/>
              </a:tr>
            </a:tbl>
          </a:graphicData>
        </a:graphic>
      </p:graphicFrame>
      <p:sp>
        <p:nvSpPr>
          <p:cNvPr id="875" name="Google Shape;875;g3f74450dabd_7_10"/>
          <p:cNvSpPr/>
          <p:nvPr/>
        </p:nvSpPr>
        <p:spPr>
          <a:xfrm>
            <a:off x="9562908" y="4175503"/>
            <a:ext cx="25005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Версионность стека разработки: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.NET не ниже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MinIO — актуальный релиз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ReactJS не ниже 18.3.1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Nginx не ниже 1.27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Nodejs не ниже </a:t>
            </a:r>
            <a:r>
              <a:rPr lang="ru-RU" sz="1000">
                <a:solidFill>
                  <a:schemeClr val="dk2"/>
                </a:solidFill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PostgreSQL не ниже 16 (pgvector)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не ниже 5.6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Astra Linux</a:t>
            </a: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(SE) не ниже 1.7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Vite не ниже 5.4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" name="Google Shape;880;g3f74450dabd_7_30"/>
          <p:cNvGraphicFramePr/>
          <p:nvPr/>
        </p:nvGraphicFramePr>
        <p:xfrm>
          <a:off x="241458" y="1591536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{83F73B76-8461-43C0-A3B8-6E51E452B95E}</a:tableStyleId>
              </a:tblPr>
              <a:tblGrid>
                <a:gridCol w="488000"/>
                <a:gridCol w="780175"/>
                <a:gridCol w="511725"/>
                <a:gridCol w="906000"/>
                <a:gridCol w="1065400"/>
                <a:gridCol w="1132525"/>
                <a:gridCol w="562075"/>
                <a:gridCol w="545275"/>
                <a:gridCol w="1484850"/>
                <a:gridCol w="469775"/>
                <a:gridCol w="528500"/>
                <a:gridCol w="973125"/>
                <a:gridCol w="486550"/>
                <a:gridCol w="1833825"/>
              </a:tblGrid>
              <a:tr h="2004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144000" marL="144000" anchor="ctr">
                    <a:lnR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СЕРВЕР</a:t>
                      </a:r>
                      <a:endParaRPr b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72000" marL="72000" anchor="ctr">
                    <a:lnL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Symbols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ОС, ОБЩЕСИСТИМЕНОЕ И ПРИКЛАДНОЕ ПО</a:t>
                      </a:r>
                      <a:endParaRPr sz="1800" u="none" cap="none" strike="noStrike"/>
                    </a:p>
                  </a:txBody>
                  <a:tcPr marT="36000" marB="36000" marR="0" marL="0" anchor="ctr">
                    <a:lnL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sz="1800" u="none" cap="none" strike="noStrike"/>
                    </a:p>
                  </a:txBody>
                  <a:tcPr marT="36000" marB="36000" marR="0" marL="0" anchor="ctr">
                    <a:lnL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RAM (ГБ)</a:t>
                      </a:r>
                      <a:b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sz="1800" u="none" cap="none" strike="noStrike"/>
                    </a:p>
                  </a:txBody>
                  <a:tcPr marT="36000" marB="36000" marR="0" marL="0" anchor="ctr">
                    <a:lnL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R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ДИСКОВАЯ ПОДСИСТЕМА</a:t>
                      </a:r>
                      <a:endParaRPr b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0" marL="0" anchor="ctr">
                    <a:lnL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79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ПЛОЩАДКА</a:t>
                      </a:r>
                      <a:endParaRPr sz="1800" u="none" cap="none" strike="noStrike"/>
                    </a:p>
                  </a:txBody>
                  <a:tcPr marT="36000" marB="36000" marR="0" marL="0" anchor="ctr">
                    <a:lnL cap="flat" cmpd="sng" w="381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РАЗМЕЩЕНИЕ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ru-RU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(КСПД / ТСПД /  CDMZ / INTERNET)</a:t>
                      </a:r>
                      <a:endParaRPr b="0" i="0" sz="7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ТИП И ПЛАТФОРМА</a:t>
                      </a:r>
                      <a:endParaRPr b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ru-RU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(IAAS / CAAS/ HAAS)</a:t>
                      </a:r>
                      <a:endParaRPr b="0" i="0" sz="7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НОВЫЙ/</a:t>
                      </a:r>
                      <a:endParaRPr sz="1800" u="none" cap="none" strike="noStrike"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СУЩЕСТВУЮЩИЙ</a:t>
                      </a:r>
                      <a:endParaRPr b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РОЛЬ</a:t>
                      </a:r>
                      <a:endParaRPr sz="1800" u="none" cap="none" strike="noStrike"/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КОЛ-ВО</a:t>
                      </a:r>
                      <a:endParaRPr b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КЛАСТЕР</a:t>
                      </a:r>
                      <a:endParaRPr b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CORE, VCORE</a:t>
                      </a:r>
                      <a:endParaRPr b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НАЗНАЧЕНИЕ</a:t>
                      </a:r>
                      <a:endParaRPr sz="1800" u="none" cap="none" strike="noStrike"/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ОБЪЕМ (ГБ)</a:t>
                      </a:r>
                      <a:endParaRPr sz="1800" u="none" cap="none" strike="noStrike"/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ru-RU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ТИП</a:t>
                      </a:r>
                      <a:endParaRPr b="0"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0" marL="0" anchor="ctr">
                    <a:lnT cap="flat" cmpd="sng" w="12700">
                      <a:solidFill>
                        <a:schemeClr val="lt1"/>
                      </a:solidFill>
                      <a:prstDash val="dashDot"/>
                      <a:round/>
                      <a:headEnd len="sm" w="sm" type="none"/>
                      <a:tailEnd len="sm" w="sm" type="none"/>
                    </a:lnT>
                    <a:solidFill>
                      <a:srgbClr val="004077"/>
                    </a:solidFill>
                  </a:tcPr>
                </a:tc>
              </a:tr>
              <a:tr h="357975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Arial"/>
                        <a:buNone/>
                      </a:pPr>
                      <a:r>
                        <a:rPr lang="ru-RU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СМАРТ-ПЛАТФОРМА ПРОСТОР 2.0</a:t>
                      </a:r>
                      <a:endParaRPr sz="1000"/>
                    </a:p>
                  </a:txBody>
                  <a:tcPr marT="72000" marB="72000" marR="144000" marL="144000" anchor="ctr"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1" i="1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6000" marB="36000" marR="36000" marL="36000" anchor="ctr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36000" marB="36000" marR="36000" marL="36000" anchor="ctr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36000" marB="36000" marR="36000" marL="36000" anchor="ctr"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3350" marL="63350" anchor="ctr">
                    <a:solidFill>
                      <a:srgbClr val="E2E2E2"/>
                    </a:solidFill>
                  </a:tcPr>
                </a:tc>
              </a:tr>
              <a:tr h="26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144000" marL="1440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ЦОД СПб\SPB99*</a:t>
                      </a:r>
                      <a:endParaRPr b="0" i="0"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КСПД</a:t>
                      </a:r>
                      <a:endParaRPr sz="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Контейнеризация</a:t>
                      </a:r>
                      <a:endParaRPr b="0" i="0"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(CaaS 2.0)</a:t>
                      </a:r>
                      <a:endParaRPr sz="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НОВЫЙ</a:t>
                      </a:r>
                      <a:endParaRPr b="0" i="0"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u200004862</a:t>
                      </a: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i="0"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Тенант</a:t>
                      </a:r>
                      <a:endParaRPr b="1" i="1"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Нет</a:t>
                      </a:r>
                      <a:endParaRPr b="0" i="0"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750"/>
                        <a:buFont typeface="Noto Sans Symbols"/>
                        <a:buNone/>
                      </a:pPr>
                      <a:r>
                        <a:rPr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.NET 8, ReactJS, Nginx, MinIO/</a:t>
                      </a:r>
                      <a:r>
                        <a:rPr lang="ru-RU" sz="800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Cloudian</a:t>
                      </a:r>
                      <a:r>
                        <a:rPr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UBI (RedOS)</a:t>
                      </a:r>
                      <a:endParaRPr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 b="0"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Системный/данные</a:t>
                      </a:r>
                      <a:endParaRPr b="0" sz="8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 sz="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Диск PV, NFS (non-SSD)</a:t>
                      </a:r>
                      <a:endParaRPr sz="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0" marB="0" marR="63350" marL="63350" anchor="ctr">
                    <a:solidFill>
                      <a:srgbClr val="FCFCFC"/>
                    </a:solidFill>
                  </a:tcPr>
                </a:tc>
              </a:tr>
              <a:tr h="2363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144000" marL="144000" anchor="ctr"/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ЦОД СПб\SPB99*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КСПД</a:t>
                      </a:r>
                      <a:endParaRPr sz="800" u="none" cap="none" strike="noStrike"/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Контейнеризация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(CaaS 2.0)</a:t>
                      </a:r>
                      <a:endParaRPr sz="800" u="none" cap="none" strike="noStrike"/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НОВЫЙ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(uberntc)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Тенант</a:t>
                      </a:r>
                      <a:endParaRPr b="1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Нет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077"/>
                        </a:buClr>
                        <a:buSzPts val="750"/>
                        <a:buFont typeface="Noto Sans Symbols"/>
                        <a:buNone/>
                      </a:pPr>
                      <a:r>
                        <a:rPr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.NET 8, ReactJS, Nginx, MinIO/</a:t>
                      </a:r>
                      <a:r>
                        <a:rPr lang="ru-RU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Cloudian</a:t>
                      </a:r>
                      <a:r>
                        <a:rPr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UBI (RedOS)</a:t>
                      </a:r>
                      <a:endParaRPr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Системный/данные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800" u="none" cap="none" strike="noStrike"/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Gold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Диск PV, NFS (non-SSD)</a:t>
                      </a:r>
                      <a:endParaRPr sz="800" u="none" cap="none" strike="noStrike"/>
                    </a:p>
                  </a:txBody>
                  <a:tcPr marT="0" marB="0" marR="63350" marL="63350" anchor="ctr">
                    <a:solidFill>
                      <a:srgbClr val="FCFCFC"/>
                    </a:solidFill>
                  </a:tcPr>
                </a:tc>
              </a:tr>
              <a:tr h="236300"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Silver</a:t>
                      </a:r>
                      <a:endParaRPr b="1"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Диск PV, NFS (non-SSD)</a:t>
                      </a:r>
                      <a:endParaRPr sz="800" u="none" cap="none" strike="noStrike"/>
                    </a:p>
                  </a:txBody>
                  <a:tcPr marT="0" marB="0" marR="63350" marL="63350" anchor="ctr">
                    <a:solidFill>
                      <a:srgbClr val="FCFCFC"/>
                    </a:solidFill>
                  </a:tcPr>
                </a:tc>
              </a:tr>
              <a:tr h="2363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2000" marB="72000" marR="144000" marL="144000" anchor="ctr"/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ЦОД СПб\SPB99*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CDMZ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Контейнеризация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(CaaS 2.0)</a:t>
                      </a:r>
                      <a:endParaRPr sz="800" u="none" cap="none" strike="noStrike"/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НОВЫЙ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(uberntc)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C3C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3C3C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Тенант</a:t>
                      </a:r>
                      <a:endParaRPr b="1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Нет</a:t>
                      </a:r>
                      <a:endParaRPr b="0" i="0" sz="800" u="none" cap="none" strike="noStrike">
                        <a:solidFill>
                          <a:srgbClr val="3C3C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077"/>
                        </a:buClr>
                        <a:buSzPts val="750"/>
                        <a:buFont typeface="Noto Sans Symbols"/>
                        <a:buNone/>
                      </a:pPr>
                      <a:r>
                        <a:rPr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.NET 8, ReactJS, Nginx, MinIO/</a:t>
                      </a:r>
                      <a:r>
                        <a:rPr lang="ru-RU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Cloudian</a:t>
                      </a:r>
                      <a:r>
                        <a:rPr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UBI (RedOS)</a:t>
                      </a:r>
                      <a:endParaRPr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Системный/данные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800" u="none" cap="none" strike="noStrike"/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Gold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Диск PV, NFS (non-SSD)</a:t>
                      </a:r>
                      <a:endParaRPr sz="800" u="none" cap="none" strike="noStrike"/>
                    </a:p>
                  </a:txBody>
                  <a:tcPr marT="0" marB="0" marR="63350" marL="63350" anchor="ctr">
                    <a:solidFill>
                      <a:srgbClr val="FCFCFC"/>
                    </a:solidFill>
                  </a:tcPr>
                </a:tc>
              </a:tr>
              <a:tr h="236300"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000" marB="36000" marR="36000" marL="36000" anchor="ctr"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Silver</a:t>
                      </a:r>
                      <a:endParaRPr b="1"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ru-RU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Диск PV, NFS (non-SSD)</a:t>
                      </a:r>
                      <a:endParaRPr sz="800" u="none" cap="none" strike="noStrike"/>
                    </a:p>
                  </a:txBody>
                  <a:tcPr marT="0" marB="0" marR="63350" marL="63350" anchor="ctr"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881" name="Google Shape;881;g3f74450dabd_7_30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82" name="Google Shape;882;g3f74450dabd_7_30"/>
          <p:cNvSpPr txBox="1"/>
          <p:nvPr>
            <p:ph type="title"/>
          </p:nvPr>
        </p:nvSpPr>
        <p:spPr>
          <a:xfrm>
            <a:off x="275275" y="343175"/>
            <a:ext cx="11916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800"/>
              <a:buFont typeface="Arial"/>
              <a:buNone/>
            </a:pPr>
            <a:r>
              <a:rPr b="1" lang="ru-RU"/>
              <a:t>ТРЕБОВАНИЯ К ХАРАКТЕРИСТИКАМ ЦЕЛЕВОЙ ТЕХНОЛОГИЧЕСКОЙ АРХИТЕКТУРЫ</a:t>
            </a:r>
            <a:br>
              <a:rPr b="1" lang="ru-RU"/>
            </a:br>
            <a:r>
              <a:rPr b="1" lang="ru-RU"/>
              <a:t>ЛАНДШАФТ РАЗРАБОТКИ</a:t>
            </a:r>
            <a:endParaRPr b="1"/>
          </a:p>
        </p:txBody>
      </p:sp>
      <p:sp>
        <p:nvSpPr>
          <p:cNvPr id="883" name="Google Shape;883;g3f74450dabd_7_30"/>
          <p:cNvSpPr/>
          <p:nvPr/>
        </p:nvSpPr>
        <p:spPr>
          <a:xfrm>
            <a:off x="9589008" y="4360103"/>
            <a:ext cx="25005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Версионность стека разработки: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.NET не ниже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MinIO — актуальный релиз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ReactJS не ниже 18.3.1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Nginx не ниже 1.27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Nodejs не ниже </a:t>
            </a:r>
            <a:r>
              <a:rPr lang="ru-RU" sz="1000">
                <a:solidFill>
                  <a:schemeClr val="dk2"/>
                </a:solidFill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PostgreSQL не ниже 16 (pgvector)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не ниже 5.6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Astra Linux</a:t>
            </a: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(SE) не ниже 1.7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Vite не ниже 5.4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f74450dabd_7_38"/>
          <p:cNvSpPr/>
          <p:nvPr/>
        </p:nvSpPr>
        <p:spPr>
          <a:xfrm>
            <a:off x="2483360" y="797497"/>
            <a:ext cx="9649800" cy="4806000"/>
          </a:xfrm>
          <a:prstGeom prst="rect">
            <a:avLst/>
          </a:prstGeom>
          <a:solidFill>
            <a:srgbClr val="F2F2F2">
              <a:alpha val="9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g3f74450dabd_7_38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90" name="Google Shape;890;g3f74450dabd_7_38"/>
          <p:cNvSpPr txBox="1"/>
          <p:nvPr>
            <p:ph type="title"/>
          </p:nvPr>
        </p:nvSpPr>
        <p:spPr>
          <a:xfrm>
            <a:off x="241420" y="286257"/>
            <a:ext cx="116157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800"/>
              <a:buFont typeface="Arial"/>
              <a:buNone/>
            </a:pPr>
            <a:r>
              <a:rPr b="1" lang="ru-RU"/>
              <a:t>СХЕМА СЕТЕВОГО ВЗАИМОДЕЙСТВИЯ</a:t>
            </a:r>
            <a:endParaRPr b="1"/>
          </a:p>
        </p:txBody>
      </p:sp>
      <p:sp>
        <p:nvSpPr>
          <p:cNvPr id="891" name="Google Shape;891;g3f74450dabd_7_38"/>
          <p:cNvSpPr/>
          <p:nvPr/>
        </p:nvSpPr>
        <p:spPr>
          <a:xfrm>
            <a:off x="2430867" y="5786367"/>
            <a:ext cx="108000" cy="1407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3f74450dabd_7_38"/>
          <p:cNvSpPr/>
          <p:nvPr/>
        </p:nvSpPr>
        <p:spPr>
          <a:xfrm>
            <a:off x="2579743" y="5736500"/>
            <a:ext cx="86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Trusted Zone, КСПД</a:t>
            </a:r>
            <a:endParaRPr b="0" i="1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g3f74450dabd_7_38"/>
          <p:cNvSpPr/>
          <p:nvPr/>
        </p:nvSpPr>
        <p:spPr>
          <a:xfrm>
            <a:off x="2431341" y="6019672"/>
            <a:ext cx="108000" cy="140700"/>
          </a:xfrm>
          <a:prstGeom prst="ellipse">
            <a:avLst/>
          </a:prstGeom>
          <a:solidFill>
            <a:srgbClr val="FFC000">
              <a:alpha val="6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3f74450dabd_7_38"/>
          <p:cNvSpPr/>
          <p:nvPr/>
        </p:nvSpPr>
        <p:spPr>
          <a:xfrm>
            <a:off x="2579743" y="5969806"/>
            <a:ext cx="9075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Controlled Zone, DMZ</a:t>
            </a:r>
            <a:endParaRPr b="0" i="1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f74450dabd_7_38"/>
          <p:cNvSpPr/>
          <p:nvPr/>
        </p:nvSpPr>
        <p:spPr>
          <a:xfrm>
            <a:off x="2428000" y="6273231"/>
            <a:ext cx="108000" cy="140700"/>
          </a:xfrm>
          <a:prstGeom prst="ellipse">
            <a:avLst/>
          </a:prstGeom>
          <a:solidFill>
            <a:srgbClr val="FF0000">
              <a:alpha val="6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g3f74450dabd_7_38"/>
          <p:cNvSpPr/>
          <p:nvPr/>
        </p:nvSpPr>
        <p:spPr>
          <a:xfrm>
            <a:off x="2576402" y="6223363"/>
            <a:ext cx="11112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Uncontrolled Zone, Internet</a:t>
            </a:r>
            <a:endParaRPr b="0" i="1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g3f74450dabd_7_38"/>
          <p:cNvSpPr/>
          <p:nvPr/>
        </p:nvSpPr>
        <p:spPr>
          <a:xfrm>
            <a:off x="241429" y="5787775"/>
            <a:ext cx="1651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Названия сетевых зон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Internet, IaaS-prod, IaaS-test, IaaS-dev, DMZ-frontend, DMZ-backend1, DMZ-backend2, КРЕПИС, КОА-СПТ, КОА-СТТ, КОА-СИТ, КОА-DMZ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8" name="Google Shape;898;g3f74450dabd_7_38"/>
          <p:cNvGrpSpPr/>
          <p:nvPr/>
        </p:nvGrpSpPr>
        <p:grpSpPr>
          <a:xfrm>
            <a:off x="3628494" y="2509662"/>
            <a:ext cx="791967" cy="553983"/>
            <a:chOff x="-1701619" y="4540110"/>
            <a:chExt cx="791967" cy="553983"/>
          </a:xfrm>
        </p:grpSpPr>
        <p:sp>
          <p:nvSpPr>
            <p:cNvPr id="899" name="Google Shape;899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g3f74450dabd_7_38"/>
            <p:cNvSpPr/>
            <p:nvPr/>
          </p:nvSpPr>
          <p:spPr>
            <a:xfrm>
              <a:off x="-1664877" y="4695686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Frontend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g3f74450dabd_7_38"/>
            <p:cNvSpPr/>
            <p:nvPr/>
          </p:nvSpPr>
          <p:spPr>
            <a:xfrm>
              <a:off x="-1664875" y="4576478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NGINX + REACT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1" name="Google Shape;921;g3f74450dabd_7_38"/>
          <p:cNvGrpSpPr/>
          <p:nvPr/>
        </p:nvGrpSpPr>
        <p:grpSpPr>
          <a:xfrm>
            <a:off x="2373850" y="2103104"/>
            <a:ext cx="754665" cy="927035"/>
            <a:chOff x="-1701619" y="4540110"/>
            <a:chExt cx="791967" cy="553983"/>
          </a:xfrm>
        </p:grpSpPr>
        <p:sp>
          <p:nvSpPr>
            <p:cNvPr id="922" name="Google Shape;922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g3f74450dabd_7_38"/>
            <p:cNvSpPr/>
            <p:nvPr/>
          </p:nvSpPr>
          <p:spPr>
            <a:xfrm>
              <a:off x="-1664877" y="4849036"/>
              <a:ext cx="720000" cy="2127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Workstation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g3f74450dabd_7_38"/>
            <p:cNvSpPr/>
            <p:nvPr/>
          </p:nvSpPr>
          <p:spPr>
            <a:xfrm>
              <a:off x="-1664875" y="4581242"/>
              <a:ext cx="720000" cy="27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Windows/ АСТРА / браузер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4" name="Google Shape;944;g3f74450dabd_7_38"/>
          <p:cNvCxnSpPr>
            <a:endCxn id="945" idx="1"/>
          </p:cNvCxnSpPr>
          <p:nvPr/>
        </p:nvCxnSpPr>
        <p:spPr>
          <a:xfrm flipH="1" rot="10800000">
            <a:off x="2825750" y="2001307"/>
            <a:ext cx="848400" cy="1200"/>
          </a:xfrm>
          <a:prstGeom prst="straightConnector1">
            <a:avLst/>
          </a:prstGeom>
          <a:noFill/>
          <a:ln cap="flat" cmpd="sng" w="9525">
            <a:solidFill>
              <a:srgbClr val="28AFE7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946" name="Google Shape;946;g3f74450dabd_7_38"/>
          <p:cNvCxnSpPr>
            <a:stCxn id="947" idx="2"/>
            <a:endCxn id="948" idx="0"/>
          </p:cNvCxnSpPr>
          <p:nvPr/>
        </p:nvCxnSpPr>
        <p:spPr>
          <a:xfrm flipH="1" rot="-5400000">
            <a:off x="4880925" y="3231888"/>
            <a:ext cx="4242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949" name="Google Shape;949;g3f74450dabd_7_38"/>
          <p:cNvCxnSpPr/>
          <p:nvPr/>
        </p:nvCxnSpPr>
        <p:spPr>
          <a:xfrm rot="10800000">
            <a:off x="3437834" y="1596105"/>
            <a:ext cx="0" cy="232860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50" name="Google Shape;950;g3f74450dabd_7_38"/>
          <p:cNvSpPr/>
          <p:nvPr/>
        </p:nvSpPr>
        <p:spPr>
          <a:xfrm>
            <a:off x="8779471" y="1620688"/>
            <a:ext cx="108000" cy="108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3f74450dabd_7_38"/>
          <p:cNvSpPr/>
          <p:nvPr/>
        </p:nvSpPr>
        <p:spPr>
          <a:xfrm>
            <a:off x="2092658" y="1727481"/>
            <a:ext cx="108000" cy="108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f74450dabd_7_38"/>
          <p:cNvSpPr/>
          <p:nvPr/>
        </p:nvSpPr>
        <p:spPr>
          <a:xfrm>
            <a:off x="2089414" y="1649041"/>
            <a:ext cx="1238400" cy="17847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f74450dabd_7_38"/>
          <p:cNvSpPr/>
          <p:nvPr/>
        </p:nvSpPr>
        <p:spPr>
          <a:xfrm>
            <a:off x="2191581" y="3253906"/>
            <a:ext cx="10770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ru-RU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Пользовательский сегмент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4" name="Google Shape;954;g3f74450dabd_7_38"/>
          <p:cNvGrpSpPr/>
          <p:nvPr/>
        </p:nvGrpSpPr>
        <p:grpSpPr>
          <a:xfrm>
            <a:off x="3886695" y="5803136"/>
            <a:ext cx="791967" cy="553983"/>
            <a:chOff x="-1701619" y="4540110"/>
            <a:chExt cx="791967" cy="553983"/>
          </a:xfrm>
        </p:grpSpPr>
        <p:sp>
          <p:nvSpPr>
            <p:cNvPr id="955" name="Google Shape;955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Role Name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Component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7" name="Google Shape;977;g3f74450dabd_7_38"/>
          <p:cNvSpPr/>
          <p:nvPr/>
        </p:nvSpPr>
        <p:spPr>
          <a:xfrm>
            <a:off x="4717416" y="6086689"/>
            <a:ext cx="1509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Роль узла / системной платформы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3f74450dabd_7_38"/>
          <p:cNvSpPr/>
          <p:nvPr/>
        </p:nvSpPr>
        <p:spPr>
          <a:xfrm>
            <a:off x="4717416" y="5837581"/>
            <a:ext cx="1579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Технический компонент (технология)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3f74450dabd_7_38"/>
          <p:cNvSpPr/>
          <p:nvPr/>
        </p:nvSpPr>
        <p:spPr>
          <a:xfrm rot="5400000">
            <a:off x="9749765" y="2112645"/>
            <a:ext cx="518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5432/TCP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0" name="Google Shape;980;g3f74450dabd_7_38"/>
          <p:cNvCxnSpPr/>
          <p:nvPr/>
        </p:nvCxnSpPr>
        <p:spPr>
          <a:xfrm>
            <a:off x="10042450" y="5926100"/>
            <a:ext cx="480300" cy="1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981" name="Google Shape;981;g3f74450dabd_7_38"/>
          <p:cNvSpPr/>
          <p:nvPr/>
        </p:nvSpPr>
        <p:spPr>
          <a:xfrm>
            <a:off x="9292562" y="5775275"/>
            <a:ext cx="73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Инициатор вызова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g3f74450dabd_7_38"/>
          <p:cNvSpPr/>
          <p:nvPr/>
        </p:nvSpPr>
        <p:spPr>
          <a:xfrm>
            <a:off x="10522987" y="5870424"/>
            <a:ext cx="48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g3f74450dabd_7_38"/>
          <p:cNvSpPr txBox="1"/>
          <p:nvPr/>
        </p:nvSpPr>
        <p:spPr>
          <a:xfrm>
            <a:off x="2039384" y="1686946"/>
            <a:ext cx="14025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Пользовательский сегмент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4" name="Google Shape;984;g3f74450dabd_7_38"/>
          <p:cNvGrpSpPr/>
          <p:nvPr/>
        </p:nvGrpSpPr>
        <p:grpSpPr>
          <a:xfrm>
            <a:off x="3630626" y="1700586"/>
            <a:ext cx="792137" cy="554112"/>
            <a:chOff x="1958823" y="1705953"/>
            <a:chExt cx="3276000" cy="2291613"/>
          </a:xfrm>
        </p:grpSpPr>
        <p:sp>
          <p:nvSpPr>
            <p:cNvPr id="985" name="Google Shape;985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5" name="Google Shape;1005;g3f74450dabd_7_38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945" name="Google Shape;945;g3f74450dabd_7_38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Identity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provider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Keycloak SSO CaaS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07" name="Google Shape;1007;g3f74450dabd_7_38"/>
          <p:cNvGrpSpPr/>
          <p:nvPr/>
        </p:nvGrpSpPr>
        <p:grpSpPr>
          <a:xfrm>
            <a:off x="2292913" y="4484936"/>
            <a:ext cx="792137" cy="554112"/>
            <a:chOff x="1958823" y="1705953"/>
            <a:chExt cx="3276000" cy="2291613"/>
          </a:xfrm>
        </p:grpSpPr>
        <p:sp>
          <p:nvSpPr>
            <p:cNvPr id="1008" name="Google Shape;1008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8" name="Google Shape;1028;g3f74450dabd_7_38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029" name="Google Shape;1029;g3f74450dabd_7_38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Почтовый</a:t>
                </a:r>
                <a:r>
                  <a:rPr b="0" i="0" lang="ru-RU" sz="800" u="none" cap="none" strike="noStrik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сервер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MS Exchange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31" name="Google Shape;1031;g3f74450dabd_7_38"/>
          <p:cNvSpPr txBox="1"/>
          <p:nvPr/>
        </p:nvSpPr>
        <p:spPr>
          <a:xfrm>
            <a:off x="10372708" y="1598375"/>
            <a:ext cx="1568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IaaS-PROD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2" name="Google Shape;1032;g3f74450dabd_7_38"/>
          <p:cNvCxnSpPr/>
          <p:nvPr/>
        </p:nvCxnSpPr>
        <p:spPr>
          <a:xfrm rot="10800000">
            <a:off x="7044233" y="5956548"/>
            <a:ext cx="20517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033" name="Google Shape;1033;g3f74450dabd_7_38"/>
          <p:cNvGrpSpPr/>
          <p:nvPr/>
        </p:nvGrpSpPr>
        <p:grpSpPr>
          <a:xfrm>
            <a:off x="10583954" y="2554184"/>
            <a:ext cx="738461" cy="466101"/>
            <a:chOff x="9860970" y="1600043"/>
            <a:chExt cx="738461" cy="466101"/>
          </a:xfrm>
        </p:grpSpPr>
        <p:sp>
          <p:nvSpPr>
            <p:cNvPr id="1034" name="Google Shape;1034;g3f74450dabd_7_38"/>
            <p:cNvSpPr/>
            <p:nvPr/>
          </p:nvSpPr>
          <p:spPr>
            <a:xfrm>
              <a:off x="9860970" y="1699544"/>
              <a:ext cx="730500" cy="366600"/>
            </a:xfrm>
            <a:prstGeom prst="rect">
              <a:avLst/>
            </a:prstGeom>
            <a:solidFill>
              <a:srgbClr val="EB9393">
                <a:alpha val="74900"/>
              </a:srgbClr>
            </a:solidFill>
            <a:ln>
              <a:noFill/>
            </a:ln>
          </p:spPr>
          <p:txBody>
            <a:bodyPr anchorCtr="0" anchor="ctr" bIns="27000" lIns="27000" spcFirstLastPara="1" rIns="27000" wrap="square" tIns="27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06F6F"/>
                  </a:solidFill>
                  <a:latin typeface="Arial"/>
                  <a:ea typeface="Arial"/>
                  <a:cs typeface="Arial"/>
                  <a:sym typeface="Arial"/>
                </a:rPr>
                <a:t>Object storage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g3f74450dabd_7_38"/>
            <p:cNvSpPr/>
            <p:nvPr/>
          </p:nvSpPr>
          <p:spPr>
            <a:xfrm>
              <a:off x="9868931" y="1600043"/>
              <a:ext cx="730500" cy="123600"/>
            </a:xfrm>
            <a:prstGeom prst="rect">
              <a:avLst/>
            </a:prstGeom>
            <a:solidFill>
              <a:srgbClr val="0070BA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Cloudian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6" name="Google Shape;1036;g3f74450dabd_7_38"/>
          <p:cNvGrpSpPr/>
          <p:nvPr/>
        </p:nvGrpSpPr>
        <p:grpSpPr>
          <a:xfrm>
            <a:off x="8721792" y="2507545"/>
            <a:ext cx="791967" cy="553983"/>
            <a:chOff x="-1701619" y="4540110"/>
            <a:chExt cx="791967" cy="553983"/>
          </a:xfrm>
        </p:grpSpPr>
        <p:sp>
          <p:nvSpPr>
            <p:cNvPr id="1037" name="Google Shape;1037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Message broker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Rabbit MQ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9" name="Google Shape;1059;g3f74450dabd_7_38"/>
          <p:cNvSpPr/>
          <p:nvPr/>
        </p:nvSpPr>
        <p:spPr>
          <a:xfrm>
            <a:off x="10978552" y="3112861"/>
            <a:ext cx="477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3f74450dabd_7_38"/>
          <p:cNvSpPr/>
          <p:nvPr/>
        </p:nvSpPr>
        <p:spPr>
          <a:xfrm>
            <a:off x="2583334" y="3994462"/>
            <a:ext cx="537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587/SMTP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f74450dabd_7_38"/>
          <p:cNvSpPr/>
          <p:nvPr/>
        </p:nvSpPr>
        <p:spPr>
          <a:xfrm>
            <a:off x="4307379" y="2631191"/>
            <a:ext cx="48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f74450dabd_7_38"/>
          <p:cNvSpPr/>
          <p:nvPr/>
        </p:nvSpPr>
        <p:spPr>
          <a:xfrm>
            <a:off x="2871971" y="1993328"/>
            <a:ext cx="477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3f74450dabd_7_38"/>
          <p:cNvSpPr/>
          <p:nvPr/>
        </p:nvSpPr>
        <p:spPr>
          <a:xfrm rot="-5400000">
            <a:off x="4731804" y="2982083"/>
            <a:ext cx="5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8080/http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3f74450dabd_7_38"/>
          <p:cNvSpPr/>
          <p:nvPr/>
        </p:nvSpPr>
        <p:spPr>
          <a:xfrm>
            <a:off x="8970050" y="2256085"/>
            <a:ext cx="5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15672,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5672/TCP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g3f74450dabd_7_38"/>
          <p:cNvSpPr/>
          <p:nvPr/>
        </p:nvSpPr>
        <p:spPr>
          <a:xfrm>
            <a:off x="10764396" y="1643425"/>
            <a:ext cx="108000" cy="108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6" name="Google Shape;1066;g3f74450dabd_7_38"/>
          <p:cNvCxnSpPr>
            <a:stCxn id="947" idx="0"/>
            <a:endCxn id="1067" idx="2"/>
          </p:cNvCxnSpPr>
          <p:nvPr/>
        </p:nvCxnSpPr>
        <p:spPr>
          <a:xfrm rot="-5400000">
            <a:off x="6015225" y="1557888"/>
            <a:ext cx="178500" cy="2023500"/>
          </a:xfrm>
          <a:prstGeom prst="bentConnector3">
            <a:avLst>
              <a:gd fmla="val 1964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068" name="Google Shape;1068;g3f74450dabd_7_38"/>
          <p:cNvCxnSpPr>
            <a:stCxn id="1069" idx="2"/>
            <a:endCxn id="1070" idx="2"/>
          </p:cNvCxnSpPr>
          <p:nvPr/>
        </p:nvCxnSpPr>
        <p:spPr>
          <a:xfrm rot="-5400000">
            <a:off x="6524477" y="1063830"/>
            <a:ext cx="165900" cy="3029400"/>
          </a:xfrm>
          <a:prstGeom prst="bentConnector3">
            <a:avLst>
              <a:gd fmla="val -3445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071" name="Google Shape;1071;g3f74450dabd_7_38"/>
          <p:cNvGrpSpPr/>
          <p:nvPr/>
        </p:nvGrpSpPr>
        <p:grpSpPr>
          <a:xfrm>
            <a:off x="4726716" y="950015"/>
            <a:ext cx="791967" cy="553983"/>
            <a:chOff x="-1701619" y="4540110"/>
            <a:chExt cx="791967" cy="553983"/>
          </a:xfrm>
        </p:grpSpPr>
        <p:sp>
          <p:nvSpPr>
            <p:cNvPr id="1072" name="Google Shape;1072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IAM Server</a:t>
              </a:r>
              <a:endParaRPr b="1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MS AD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94" name="Google Shape;1094;g3f74450dabd_7_38"/>
          <p:cNvCxnSpPr>
            <a:stCxn id="1092" idx="1"/>
            <a:endCxn id="1006" idx="0"/>
          </p:cNvCxnSpPr>
          <p:nvPr/>
        </p:nvCxnSpPr>
        <p:spPr>
          <a:xfrm flipH="1">
            <a:off x="4026658" y="1290954"/>
            <a:ext cx="736800" cy="4509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095" name="Google Shape;1095;g3f74450dabd_7_38"/>
          <p:cNvSpPr/>
          <p:nvPr/>
        </p:nvSpPr>
        <p:spPr>
          <a:xfrm>
            <a:off x="4320148" y="1097806"/>
            <a:ext cx="540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LDAPs 636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3f74450dabd_7_38"/>
          <p:cNvSpPr/>
          <p:nvPr/>
        </p:nvSpPr>
        <p:spPr>
          <a:xfrm>
            <a:off x="3575540" y="4121978"/>
            <a:ext cx="490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514/UDP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7" name="Google Shape;1097;g3f74450dabd_7_38"/>
          <p:cNvCxnSpPr/>
          <p:nvPr/>
        </p:nvCxnSpPr>
        <p:spPr>
          <a:xfrm>
            <a:off x="1992116" y="3921795"/>
            <a:ext cx="1452300" cy="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098" name="Google Shape;1098;g3f74450dabd_7_38"/>
          <p:cNvCxnSpPr>
            <a:stCxn id="1069" idx="2"/>
            <a:endCxn id="1099" idx="2"/>
          </p:cNvCxnSpPr>
          <p:nvPr/>
        </p:nvCxnSpPr>
        <p:spPr>
          <a:xfrm rot="-5400000">
            <a:off x="5544677" y="2021730"/>
            <a:ext cx="187800" cy="1091700"/>
          </a:xfrm>
          <a:prstGeom prst="bentConnector3">
            <a:avLst>
              <a:gd fmla="val 30431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00" name="Google Shape;1100;g3f74450dabd_7_38"/>
          <p:cNvCxnSpPr>
            <a:stCxn id="947" idx="0"/>
            <a:endCxn id="1101" idx="0"/>
          </p:cNvCxnSpPr>
          <p:nvPr/>
        </p:nvCxnSpPr>
        <p:spPr>
          <a:xfrm flipH="1" rot="-5400000">
            <a:off x="6391575" y="1360038"/>
            <a:ext cx="431700" cy="3029400"/>
          </a:xfrm>
          <a:prstGeom prst="bentConnector3">
            <a:avLst>
              <a:gd fmla="val 28684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02" name="Google Shape;1102;g3f74450dabd_7_38"/>
          <p:cNvCxnSpPr>
            <a:stCxn id="1069" idx="2"/>
            <a:endCxn id="1103" idx="0"/>
          </p:cNvCxnSpPr>
          <p:nvPr/>
        </p:nvCxnSpPr>
        <p:spPr>
          <a:xfrm flipH="1" rot="-5400000">
            <a:off x="5893727" y="1860480"/>
            <a:ext cx="421500" cy="2023500"/>
          </a:xfrm>
          <a:prstGeom prst="bentConnector3">
            <a:avLst>
              <a:gd fmla="val 43228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04" name="Google Shape;1104;g3f74450dabd_7_38"/>
          <p:cNvCxnSpPr>
            <a:stCxn id="947" idx="0"/>
            <a:endCxn id="1105" idx="0"/>
          </p:cNvCxnSpPr>
          <p:nvPr/>
        </p:nvCxnSpPr>
        <p:spPr>
          <a:xfrm flipH="1" rot="-5400000">
            <a:off x="5424825" y="2326788"/>
            <a:ext cx="424200" cy="1088400"/>
          </a:xfrm>
          <a:prstGeom prst="bentConnector3">
            <a:avLst>
              <a:gd fmla="val 58381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106" name="Google Shape;1106;g3f74450dabd_7_38"/>
          <p:cNvGrpSpPr/>
          <p:nvPr/>
        </p:nvGrpSpPr>
        <p:grpSpPr>
          <a:xfrm>
            <a:off x="4695983" y="2503312"/>
            <a:ext cx="791967" cy="553983"/>
            <a:chOff x="-1701619" y="4540110"/>
            <a:chExt cx="791967" cy="553983"/>
          </a:xfrm>
        </p:grpSpPr>
        <p:sp>
          <p:nvSpPr>
            <p:cNvPr id="1107" name="Google Shape;1107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g3f74450dabd_7_38"/>
            <p:cNvSpPr/>
            <p:nvPr/>
          </p:nvSpPr>
          <p:spPr>
            <a:xfrm>
              <a:off x="-1664877" y="4695686"/>
              <a:ext cx="720000" cy="36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for frontend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3f74450dabd_7_38"/>
            <p:cNvSpPr/>
            <p:nvPr/>
          </p:nvSpPr>
          <p:spPr>
            <a:xfrm>
              <a:off x="-1664875" y="4576478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7" name="Google Shape;1127;g3f74450dabd_7_38"/>
          <p:cNvSpPr/>
          <p:nvPr/>
        </p:nvSpPr>
        <p:spPr>
          <a:xfrm>
            <a:off x="5540752" y="2449893"/>
            <a:ext cx="48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g3f74450dabd_7_38"/>
          <p:cNvSpPr/>
          <p:nvPr/>
        </p:nvSpPr>
        <p:spPr>
          <a:xfrm>
            <a:off x="6412752" y="2497902"/>
            <a:ext cx="48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3f74450dabd_7_38"/>
          <p:cNvSpPr/>
          <p:nvPr/>
        </p:nvSpPr>
        <p:spPr>
          <a:xfrm>
            <a:off x="7404767" y="2563991"/>
            <a:ext cx="48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g3f74450dabd_7_38"/>
          <p:cNvSpPr/>
          <p:nvPr/>
        </p:nvSpPr>
        <p:spPr>
          <a:xfrm>
            <a:off x="7405507" y="2759435"/>
            <a:ext cx="48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g3f74450dabd_7_38"/>
          <p:cNvSpPr/>
          <p:nvPr/>
        </p:nvSpPr>
        <p:spPr>
          <a:xfrm>
            <a:off x="6412752" y="2822648"/>
            <a:ext cx="48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g3f74450dabd_7_38"/>
          <p:cNvSpPr/>
          <p:nvPr/>
        </p:nvSpPr>
        <p:spPr>
          <a:xfrm>
            <a:off x="5365466" y="2997236"/>
            <a:ext cx="481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8080/tcp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3" name="Google Shape;1133;g3f74450dabd_7_38"/>
          <p:cNvCxnSpPr>
            <a:stCxn id="1134" idx="3"/>
            <a:endCxn id="1037" idx="0"/>
          </p:cNvCxnSpPr>
          <p:nvPr/>
        </p:nvCxnSpPr>
        <p:spPr>
          <a:xfrm>
            <a:off x="6579763" y="2345822"/>
            <a:ext cx="2185500" cy="1617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35" name="Google Shape;1135;g3f74450dabd_7_38"/>
          <p:cNvCxnSpPr>
            <a:stCxn id="1067" idx="3"/>
            <a:endCxn id="1047" idx="0"/>
          </p:cNvCxnSpPr>
          <p:nvPr/>
        </p:nvCxnSpPr>
        <p:spPr>
          <a:xfrm>
            <a:off x="7476146" y="2299728"/>
            <a:ext cx="1406700" cy="2079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36" name="Google Shape;1136;g3f74450dabd_7_38"/>
          <p:cNvCxnSpPr>
            <a:stCxn id="1137" idx="3"/>
            <a:endCxn id="1042" idx="0"/>
          </p:cNvCxnSpPr>
          <p:nvPr/>
        </p:nvCxnSpPr>
        <p:spPr>
          <a:xfrm>
            <a:off x="8517418" y="2250926"/>
            <a:ext cx="483000" cy="2565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138" name="Google Shape;1138;g3f74450dabd_7_38"/>
          <p:cNvGrpSpPr/>
          <p:nvPr/>
        </p:nvGrpSpPr>
        <p:grpSpPr>
          <a:xfrm>
            <a:off x="5787796" y="1952085"/>
            <a:ext cx="791967" cy="553983"/>
            <a:chOff x="-1701619" y="4540110"/>
            <a:chExt cx="791967" cy="553983"/>
          </a:xfrm>
        </p:grpSpPr>
        <p:sp>
          <p:nvSpPr>
            <p:cNvPr id="1139" name="Google Shape;1139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Workflow 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59" name="Google Shape;1159;g3f74450dabd_7_38"/>
          <p:cNvCxnSpPr>
            <a:stCxn id="1105" idx="3"/>
            <a:endCxn id="1048" idx="2"/>
          </p:cNvCxnSpPr>
          <p:nvPr/>
        </p:nvCxnSpPr>
        <p:spPr>
          <a:xfrm flipH="1" rot="10800000">
            <a:off x="6541233" y="3061379"/>
            <a:ext cx="2224200" cy="825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60" name="Google Shape;1160;g3f74450dabd_7_38"/>
          <p:cNvCxnSpPr>
            <a:stCxn id="1161" idx="3"/>
            <a:endCxn id="1053" idx="2"/>
          </p:cNvCxnSpPr>
          <p:nvPr/>
        </p:nvCxnSpPr>
        <p:spPr>
          <a:xfrm flipH="1" rot="10800000">
            <a:off x="7511371" y="3061394"/>
            <a:ext cx="1371300" cy="1407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62" name="Google Shape;1162;g3f74450dabd_7_38"/>
          <p:cNvCxnSpPr>
            <a:stCxn id="1163" idx="0"/>
            <a:endCxn id="1049" idx="2"/>
          </p:cNvCxnSpPr>
          <p:nvPr/>
        </p:nvCxnSpPr>
        <p:spPr>
          <a:xfrm rot="-5400000">
            <a:off x="8626468" y="2908919"/>
            <a:ext cx="221400" cy="526500"/>
          </a:xfrm>
          <a:prstGeom prst="bentConnector3">
            <a:avLst>
              <a:gd fmla="val -3798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164" name="Google Shape;1164;g3f74450dabd_7_38"/>
          <p:cNvGrpSpPr/>
          <p:nvPr/>
        </p:nvGrpSpPr>
        <p:grpSpPr>
          <a:xfrm>
            <a:off x="5784489" y="3041848"/>
            <a:ext cx="791967" cy="553983"/>
            <a:chOff x="-1701619" y="4540110"/>
            <a:chExt cx="791967" cy="553983"/>
          </a:xfrm>
        </p:grpSpPr>
        <p:sp>
          <p:nvSpPr>
            <p:cNvPr id="1165" name="Google Shape;1165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Notification 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6" name="Google Shape;1186;g3f74450dabd_7_38"/>
          <p:cNvSpPr/>
          <p:nvPr/>
        </p:nvSpPr>
        <p:spPr>
          <a:xfrm>
            <a:off x="8961620" y="3077668"/>
            <a:ext cx="675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15672,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5672/TCP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7" name="Google Shape;1187;g3f74450dabd_7_38"/>
          <p:cNvCxnSpPr>
            <a:stCxn id="1188" idx="0"/>
            <a:endCxn id="1035" idx="0"/>
          </p:cNvCxnSpPr>
          <p:nvPr/>
        </p:nvCxnSpPr>
        <p:spPr>
          <a:xfrm flipH="1" rot="-5400000">
            <a:off x="8738536" y="335639"/>
            <a:ext cx="595500" cy="3841800"/>
          </a:xfrm>
          <a:prstGeom prst="bentConnector3">
            <a:avLst>
              <a:gd fmla="val -16141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189" name="Google Shape;1189;g3f74450dabd_7_38"/>
          <p:cNvCxnSpPr>
            <a:stCxn id="1190" idx="2"/>
            <a:endCxn id="1034" idx="2"/>
          </p:cNvCxnSpPr>
          <p:nvPr/>
        </p:nvCxnSpPr>
        <p:spPr>
          <a:xfrm rot="-5400000">
            <a:off x="8761196" y="1375337"/>
            <a:ext cx="543000" cy="3833100"/>
          </a:xfrm>
          <a:prstGeom prst="bentConnector3">
            <a:avLst>
              <a:gd fmla="val -42076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191" name="Google Shape;1191;g3f74450dabd_7_38"/>
          <p:cNvSpPr/>
          <p:nvPr/>
        </p:nvSpPr>
        <p:spPr>
          <a:xfrm>
            <a:off x="10957097" y="2298328"/>
            <a:ext cx="477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g3f74450dabd_7_38"/>
          <p:cNvCxnSpPr>
            <a:stCxn id="1185" idx="3"/>
            <a:endCxn id="1193" idx="2"/>
          </p:cNvCxnSpPr>
          <p:nvPr/>
        </p:nvCxnSpPr>
        <p:spPr>
          <a:xfrm flipH="1" rot="10800000">
            <a:off x="6541231" y="3061487"/>
            <a:ext cx="3129600" cy="3213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194" name="Google Shape;1194;g3f74450dabd_7_38"/>
          <p:cNvGrpSpPr/>
          <p:nvPr/>
        </p:nvGrpSpPr>
        <p:grpSpPr>
          <a:xfrm>
            <a:off x="9627222" y="2507545"/>
            <a:ext cx="791967" cy="553983"/>
            <a:chOff x="-1701619" y="4540110"/>
            <a:chExt cx="791967" cy="553983"/>
          </a:xfrm>
        </p:grpSpPr>
        <p:sp>
          <p:nvSpPr>
            <p:cNvPr id="1195" name="Google Shape;1195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rgbClr val="EB9393">
                <a:alpha val="74900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DB Server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g3f74450dabd_7_38"/>
            <p:cNvSpPr/>
            <p:nvPr/>
          </p:nvSpPr>
          <p:spPr>
            <a:xfrm>
              <a:off x="-1664875" y="4581240"/>
              <a:ext cx="720000" cy="16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PostgreSQL+PGVector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16" name="Google Shape;1216;g3f74450dabd_7_38"/>
          <p:cNvCxnSpPr>
            <a:stCxn id="1217" idx="3"/>
            <a:endCxn id="1210" idx="2"/>
          </p:cNvCxnSpPr>
          <p:nvPr/>
        </p:nvCxnSpPr>
        <p:spPr>
          <a:xfrm flipH="1" rot="10800000">
            <a:off x="7511371" y="3061485"/>
            <a:ext cx="2276700" cy="3741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218" name="Google Shape;1218;g3f74450dabd_7_38"/>
          <p:cNvCxnSpPr>
            <a:stCxn id="1219" idx="2"/>
            <a:endCxn id="1206" idx="2"/>
          </p:cNvCxnSpPr>
          <p:nvPr/>
        </p:nvCxnSpPr>
        <p:spPr>
          <a:xfrm rot="-5400000">
            <a:off x="8977318" y="2558115"/>
            <a:ext cx="425100" cy="1431900"/>
          </a:xfrm>
          <a:prstGeom prst="bentConnector3">
            <a:avLst>
              <a:gd fmla="val -747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220" name="Google Shape;1220;g3f74450dabd_7_38"/>
          <p:cNvGrpSpPr/>
          <p:nvPr/>
        </p:nvGrpSpPr>
        <p:grpSpPr>
          <a:xfrm>
            <a:off x="6719404" y="3041848"/>
            <a:ext cx="791967" cy="553983"/>
            <a:chOff x="-1701619" y="4540110"/>
            <a:chExt cx="791967" cy="553983"/>
          </a:xfrm>
        </p:grpSpPr>
        <p:sp>
          <p:nvSpPr>
            <p:cNvPr id="1221" name="Google Shape;1221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Comment 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9" name="Google Shape;1239;g3f74450dabd_7_38"/>
          <p:cNvGrpSpPr/>
          <p:nvPr/>
        </p:nvGrpSpPr>
        <p:grpSpPr>
          <a:xfrm>
            <a:off x="7725451" y="3049378"/>
            <a:ext cx="791967" cy="553983"/>
            <a:chOff x="-1701619" y="4540110"/>
            <a:chExt cx="791967" cy="553983"/>
          </a:xfrm>
        </p:grpSpPr>
        <p:sp>
          <p:nvSpPr>
            <p:cNvPr id="1240" name="Google Shape;1240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Report 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59" name="Google Shape;1259;g3f74450dabd_7_38"/>
          <p:cNvCxnSpPr>
            <a:stCxn id="1143" idx="0"/>
            <a:endCxn id="1195" idx="0"/>
          </p:cNvCxnSpPr>
          <p:nvPr/>
        </p:nvCxnSpPr>
        <p:spPr>
          <a:xfrm flipH="1" rot="-5400000">
            <a:off x="7942513" y="779326"/>
            <a:ext cx="321900" cy="31344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260" name="Google Shape;1260;g3f74450dabd_7_38"/>
          <p:cNvCxnSpPr>
            <a:stCxn id="1261" idx="3"/>
            <a:endCxn id="1205" idx="0"/>
          </p:cNvCxnSpPr>
          <p:nvPr/>
        </p:nvCxnSpPr>
        <p:spPr>
          <a:xfrm>
            <a:off x="7511371" y="2119035"/>
            <a:ext cx="2276700" cy="3885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262" name="Google Shape;1262;g3f74450dabd_7_38"/>
          <p:cNvCxnSpPr>
            <a:stCxn id="1263" idx="3"/>
            <a:endCxn id="1200" idx="0"/>
          </p:cNvCxnSpPr>
          <p:nvPr/>
        </p:nvCxnSpPr>
        <p:spPr>
          <a:xfrm>
            <a:off x="8482195" y="2075966"/>
            <a:ext cx="1423500" cy="4317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264" name="Google Shape;1264;g3f74450dabd_7_38"/>
          <p:cNvGrpSpPr/>
          <p:nvPr/>
        </p:nvGrpSpPr>
        <p:grpSpPr>
          <a:xfrm>
            <a:off x="6719404" y="1958789"/>
            <a:ext cx="791967" cy="553983"/>
            <a:chOff x="-1701619" y="4540110"/>
            <a:chExt cx="791967" cy="553983"/>
          </a:xfrm>
        </p:grpSpPr>
        <p:sp>
          <p:nvSpPr>
            <p:cNvPr id="1265" name="Google Shape;1265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Calculation 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4" name="Google Shape;1284;g3f74450dabd_7_38"/>
          <p:cNvGrpSpPr/>
          <p:nvPr/>
        </p:nvGrpSpPr>
        <p:grpSpPr>
          <a:xfrm>
            <a:off x="7725451" y="1973935"/>
            <a:ext cx="791967" cy="553983"/>
            <a:chOff x="-1701619" y="4540110"/>
            <a:chExt cx="791967" cy="553983"/>
          </a:xfrm>
        </p:grpSpPr>
        <p:sp>
          <p:nvSpPr>
            <p:cNvPr id="1285" name="Google Shape;1285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Authorization 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4" name="Google Shape;1304;g3f74450dabd_7_38"/>
          <p:cNvSpPr/>
          <p:nvPr/>
        </p:nvSpPr>
        <p:spPr>
          <a:xfrm>
            <a:off x="9539958" y="1596043"/>
            <a:ext cx="1916700" cy="23430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g3f74450dabd_7_38"/>
          <p:cNvSpPr/>
          <p:nvPr/>
        </p:nvSpPr>
        <p:spPr>
          <a:xfrm>
            <a:off x="3547726" y="1596042"/>
            <a:ext cx="5943000" cy="23430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g3f74450dabd_7_38"/>
          <p:cNvSpPr txBox="1"/>
          <p:nvPr/>
        </p:nvSpPr>
        <p:spPr>
          <a:xfrm>
            <a:off x="8398747" y="1590530"/>
            <a:ext cx="1568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PaaS-PROD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g3f74450dabd_7_38"/>
          <p:cNvSpPr/>
          <p:nvPr/>
        </p:nvSpPr>
        <p:spPr>
          <a:xfrm rot="5400000">
            <a:off x="9690822" y="3167032"/>
            <a:ext cx="628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5432/TCP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g3f74450dabd_7_38"/>
          <p:cNvSpPr txBox="1"/>
          <p:nvPr/>
        </p:nvSpPr>
        <p:spPr>
          <a:xfrm>
            <a:off x="10410032" y="1004731"/>
            <a:ext cx="1568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КСПД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g3f74450dabd_7_38"/>
          <p:cNvSpPr/>
          <p:nvPr/>
        </p:nvSpPr>
        <p:spPr>
          <a:xfrm>
            <a:off x="10916804" y="1054283"/>
            <a:ext cx="108000" cy="108000"/>
          </a:xfrm>
          <a:prstGeom prst="ellipse">
            <a:avLst/>
          </a:prstGeom>
          <a:solidFill>
            <a:srgbClr val="00B050">
              <a:alpha val="6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0" name="Google Shape;1310;g3f74450dabd_7_38"/>
          <p:cNvCxnSpPr>
            <a:stCxn id="1311" idx="2"/>
            <a:endCxn id="1030" idx="0"/>
          </p:cNvCxnSpPr>
          <p:nvPr/>
        </p:nvCxnSpPr>
        <p:spPr>
          <a:xfrm rot="5400000">
            <a:off x="3429685" y="3216361"/>
            <a:ext cx="569100" cy="2050500"/>
          </a:xfrm>
          <a:prstGeom prst="bentConnector3">
            <a:avLst>
              <a:gd fmla="val 34381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312" name="Google Shape;1312;g3f74450dabd_7_38"/>
          <p:cNvGrpSpPr/>
          <p:nvPr/>
        </p:nvGrpSpPr>
        <p:grpSpPr>
          <a:xfrm>
            <a:off x="4695985" y="3403078"/>
            <a:ext cx="791967" cy="553983"/>
            <a:chOff x="-1701619" y="4540110"/>
            <a:chExt cx="791967" cy="553983"/>
          </a:xfrm>
        </p:grpSpPr>
        <p:sp>
          <p:nvSpPr>
            <p:cNvPr id="1313" name="Google Shape;1313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API Gateway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ENVOY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3" name="Google Shape;1333;g3f74450dabd_7_38"/>
          <p:cNvGrpSpPr/>
          <p:nvPr/>
        </p:nvGrpSpPr>
        <p:grpSpPr>
          <a:xfrm>
            <a:off x="3232574" y="4492245"/>
            <a:ext cx="792137" cy="554112"/>
            <a:chOff x="1958823" y="1705953"/>
            <a:chExt cx="3276000" cy="2291613"/>
          </a:xfrm>
        </p:grpSpPr>
        <p:sp>
          <p:nvSpPr>
            <p:cNvPr id="1334" name="Google Shape;1334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4" name="Google Shape;1354;g3f74450dabd_7_38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355" name="Google Shape;1355;g3f74450dabd_7_38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События безопасности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Arcsight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357" name="Google Shape;1357;g3f74450dabd_7_38"/>
          <p:cNvCxnSpPr>
            <a:stCxn id="1328" idx="2"/>
            <a:endCxn id="1356" idx="0"/>
          </p:cNvCxnSpPr>
          <p:nvPr/>
        </p:nvCxnSpPr>
        <p:spPr>
          <a:xfrm rot="5400000">
            <a:off x="3954729" y="3631111"/>
            <a:ext cx="576300" cy="1228200"/>
          </a:xfrm>
          <a:prstGeom prst="bentConnector3">
            <a:avLst>
              <a:gd fmla="val 57706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358" name="Google Shape;1358;g3f74450dabd_7_38"/>
          <p:cNvGrpSpPr/>
          <p:nvPr/>
        </p:nvGrpSpPr>
        <p:grpSpPr>
          <a:xfrm>
            <a:off x="4160814" y="4496963"/>
            <a:ext cx="792137" cy="554112"/>
            <a:chOff x="1958823" y="1705953"/>
            <a:chExt cx="3276000" cy="2291613"/>
          </a:xfrm>
        </p:grpSpPr>
        <p:sp>
          <p:nvSpPr>
            <p:cNvPr id="1359" name="Google Shape;1359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9" name="Google Shape;1379;g3f74450dabd_7_38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380" name="Google Shape;1380;g3f74450dabd_7_38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Система продуктовой аналитики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Consta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382" name="Google Shape;1382;g3f74450dabd_7_38"/>
          <p:cNvCxnSpPr>
            <a:stCxn id="1324" idx="2"/>
            <a:endCxn id="1381" idx="0"/>
          </p:cNvCxnSpPr>
          <p:nvPr/>
        </p:nvCxnSpPr>
        <p:spPr>
          <a:xfrm rot="5400000">
            <a:off x="4475123" y="4038811"/>
            <a:ext cx="581100" cy="417600"/>
          </a:xfrm>
          <a:prstGeom prst="bentConnector3">
            <a:avLst>
              <a:gd fmla="val 84998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383" name="Google Shape;1383;g3f74450dabd_7_38"/>
          <p:cNvGrpSpPr/>
          <p:nvPr/>
        </p:nvGrpSpPr>
        <p:grpSpPr>
          <a:xfrm>
            <a:off x="10710347" y="4515887"/>
            <a:ext cx="792137" cy="554112"/>
            <a:chOff x="1958823" y="1705953"/>
            <a:chExt cx="3276000" cy="2291613"/>
          </a:xfrm>
        </p:grpSpPr>
        <p:sp>
          <p:nvSpPr>
            <p:cNvPr id="1384" name="Google Shape;1384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4" name="Google Shape;1404;g3f74450dabd_7_38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405" name="Google Shape;1405;g3f74450dabd_7_38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КСУ НСИ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SAP PO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407" name="Google Shape;1407;g3f74450dabd_7_38"/>
          <p:cNvCxnSpPr>
            <a:stCxn id="1406" idx="0"/>
            <a:endCxn id="1209" idx="2"/>
          </p:cNvCxnSpPr>
          <p:nvPr/>
        </p:nvCxnSpPr>
        <p:spPr>
          <a:xfrm flipH="1" rot="5400000">
            <a:off x="9934615" y="3385234"/>
            <a:ext cx="1495500" cy="848100"/>
          </a:xfrm>
          <a:prstGeom prst="bentConnector3">
            <a:avLst>
              <a:gd fmla="val 14329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408" name="Google Shape;1408;g3f74450dabd_7_38"/>
          <p:cNvSpPr/>
          <p:nvPr/>
        </p:nvSpPr>
        <p:spPr>
          <a:xfrm>
            <a:off x="10339993" y="4171503"/>
            <a:ext cx="518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5432/TCP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9" name="Google Shape;1409;g3f74450dabd_7_38"/>
          <p:cNvGrpSpPr/>
          <p:nvPr/>
        </p:nvGrpSpPr>
        <p:grpSpPr>
          <a:xfrm>
            <a:off x="5113372" y="4510402"/>
            <a:ext cx="792137" cy="554112"/>
            <a:chOff x="1958823" y="1705953"/>
            <a:chExt cx="3276000" cy="2291613"/>
          </a:xfrm>
        </p:grpSpPr>
        <p:sp>
          <p:nvSpPr>
            <p:cNvPr id="1410" name="Google Shape;1410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0" name="Google Shape;1430;g3f74450dabd_7_38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431" name="Google Shape;1431;g3f74450dabd_7_38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Технологические отклики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OpenJDK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433" name="Google Shape;1433;g3f74450dabd_7_38"/>
          <p:cNvCxnSpPr>
            <a:stCxn id="1432" idx="0"/>
          </p:cNvCxnSpPr>
          <p:nvPr/>
        </p:nvCxnSpPr>
        <p:spPr>
          <a:xfrm flipH="1" rot="5400000">
            <a:off x="5009940" y="4052049"/>
            <a:ext cx="564600" cy="4344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434" name="Google Shape;1434;g3f74450dabd_7_38"/>
          <p:cNvGrpSpPr/>
          <p:nvPr/>
        </p:nvGrpSpPr>
        <p:grpSpPr>
          <a:xfrm>
            <a:off x="6157994" y="4528452"/>
            <a:ext cx="792137" cy="554112"/>
            <a:chOff x="1958823" y="1705953"/>
            <a:chExt cx="3276000" cy="2291613"/>
          </a:xfrm>
        </p:grpSpPr>
        <p:sp>
          <p:nvSpPr>
            <p:cNvPr id="1435" name="Google Shape;1435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5" name="Google Shape;1455;g3f74450dabd_7_38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456" name="Google Shape;1456;g3f74450dabd_7_38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СЭД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TESSA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58" name="Google Shape;1458;g3f74450dabd_7_38"/>
          <p:cNvSpPr/>
          <p:nvPr/>
        </p:nvSpPr>
        <p:spPr>
          <a:xfrm>
            <a:off x="5152731" y="4290314"/>
            <a:ext cx="477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9" name="Google Shape;1459;g3f74450dabd_7_38"/>
          <p:cNvCxnSpPr>
            <a:stCxn id="1327" idx="2"/>
            <a:endCxn id="1457" idx="0"/>
          </p:cNvCxnSpPr>
          <p:nvPr/>
        </p:nvCxnSpPr>
        <p:spPr>
          <a:xfrm flipH="1" rot="-5400000">
            <a:off x="5634155" y="3649861"/>
            <a:ext cx="612600" cy="12270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460" name="Google Shape;1460;g3f74450dabd_7_38"/>
          <p:cNvSpPr/>
          <p:nvPr/>
        </p:nvSpPr>
        <p:spPr>
          <a:xfrm>
            <a:off x="5915923" y="4117779"/>
            <a:ext cx="576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1" name="Google Shape;1461;g3f74450dabd_7_38"/>
          <p:cNvGrpSpPr/>
          <p:nvPr/>
        </p:nvGrpSpPr>
        <p:grpSpPr>
          <a:xfrm>
            <a:off x="9743870" y="4506501"/>
            <a:ext cx="792137" cy="554112"/>
            <a:chOff x="1958823" y="1705953"/>
            <a:chExt cx="3276000" cy="2291613"/>
          </a:xfrm>
        </p:grpSpPr>
        <p:sp>
          <p:nvSpPr>
            <p:cNvPr id="1462" name="Google Shape;1462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2" name="Google Shape;1482;g3f74450dabd_7_38"/>
            <p:cNvGrpSpPr/>
            <p:nvPr/>
          </p:nvGrpSpPr>
          <p:grpSpPr>
            <a:xfrm>
              <a:off x="2138823" y="1876122"/>
              <a:ext cx="2916000" cy="1822154"/>
              <a:chOff x="2138823" y="1876122"/>
              <a:chExt cx="2916000" cy="1822154"/>
            </a:xfrm>
          </p:grpSpPr>
          <p:sp>
            <p:nvSpPr>
              <p:cNvPr id="1483" name="Google Shape;1483;g3f74450dabd_7_38"/>
              <p:cNvSpPr/>
              <p:nvPr/>
            </p:nvSpPr>
            <p:spPr>
              <a:xfrm>
                <a:off x="2138823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КЛАД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Informatica PWC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85" name="Google Shape;1485;g3f74450dabd_7_38"/>
          <p:cNvSpPr/>
          <p:nvPr/>
        </p:nvSpPr>
        <p:spPr>
          <a:xfrm>
            <a:off x="4524450" y="4302445"/>
            <a:ext cx="477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g3f74450dabd_7_38"/>
          <p:cNvSpPr/>
          <p:nvPr/>
        </p:nvSpPr>
        <p:spPr>
          <a:xfrm>
            <a:off x="9586905" y="4399116"/>
            <a:ext cx="685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5432/ODBC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7" name="Google Shape;1487;g3f74450dabd_7_38"/>
          <p:cNvCxnSpPr/>
          <p:nvPr/>
        </p:nvCxnSpPr>
        <p:spPr>
          <a:xfrm>
            <a:off x="1984747" y="1599147"/>
            <a:ext cx="1452300" cy="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488" name="Google Shape;1488;g3f74450dabd_7_38"/>
          <p:cNvCxnSpPr>
            <a:stCxn id="1484" idx="0"/>
            <a:endCxn id="1208" idx="2"/>
          </p:cNvCxnSpPr>
          <p:nvPr/>
        </p:nvCxnSpPr>
        <p:spPr>
          <a:xfrm rot="-5400000">
            <a:off x="9397288" y="3804098"/>
            <a:ext cx="1486200" cy="9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489" name="Google Shape;1489;g3f74450dabd_7_38"/>
          <p:cNvGrpSpPr/>
          <p:nvPr/>
        </p:nvGrpSpPr>
        <p:grpSpPr>
          <a:xfrm>
            <a:off x="3623586" y="3403955"/>
            <a:ext cx="791967" cy="553983"/>
            <a:chOff x="-1701619" y="4540110"/>
            <a:chExt cx="791967" cy="553983"/>
          </a:xfrm>
        </p:grpSpPr>
        <p:sp>
          <p:nvSpPr>
            <p:cNvPr id="1490" name="Google Shape;1490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g3f74450dabd_7_38"/>
            <p:cNvSpPr/>
            <p:nvPr/>
          </p:nvSpPr>
          <p:spPr>
            <a:xfrm>
              <a:off x="-1664877" y="4700449"/>
              <a:ext cx="720000" cy="361200"/>
            </a:xfrm>
            <a:prstGeom prst="rect">
              <a:avLst/>
            </a:prstGeom>
            <a:solidFill>
              <a:schemeClr val="lt1">
                <a:alpha val="74900"/>
              </a:scheme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БС Уберизация Закупок 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services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12" name="Google Shape;1512;g3f74450dabd_7_38"/>
          <p:cNvCxnSpPr>
            <a:stCxn id="1332" idx="1"/>
            <a:endCxn id="1510" idx="3"/>
          </p:cNvCxnSpPr>
          <p:nvPr/>
        </p:nvCxnSpPr>
        <p:spPr>
          <a:xfrm flipH="1">
            <a:off x="4380227" y="3744017"/>
            <a:ext cx="352500" cy="900"/>
          </a:xfrm>
          <a:prstGeom prst="bentConnector3">
            <a:avLst>
              <a:gd fmla="val 49985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513" name="Google Shape;1513;g3f74450dabd_7_38"/>
          <p:cNvSpPr txBox="1"/>
          <p:nvPr/>
        </p:nvSpPr>
        <p:spPr>
          <a:xfrm>
            <a:off x="130175" y="1254100"/>
            <a:ext cx="1769700" cy="4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рамках решения Название предполагается взаимодействие со следующими системами: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1С НСИ UPSTREAM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Технологические отклики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СЭД Tessa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 Exchange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SPA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ArcSight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Cloudian HyperStore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КЛАД Load &amp; transformation data (Informatica PwC)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КЛАД DW (Arenadata DB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1714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Плюс7EDM - Каталогизация метаданных - ДП ГПН - Каталог данных.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g3f74450dabd_7_38"/>
          <p:cNvSpPr/>
          <p:nvPr/>
        </p:nvSpPr>
        <p:spPr>
          <a:xfrm>
            <a:off x="4327940" y="2998176"/>
            <a:ext cx="457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5" name="Google Shape;1515;g3f74450dabd_7_38"/>
          <p:cNvCxnSpPr>
            <a:endCxn id="929" idx="1"/>
          </p:cNvCxnSpPr>
          <p:nvPr/>
        </p:nvCxnSpPr>
        <p:spPr>
          <a:xfrm>
            <a:off x="2821690" y="2002797"/>
            <a:ext cx="0" cy="173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6" name="Google Shape;1516;g3f74450dabd_7_38"/>
          <p:cNvSpPr/>
          <p:nvPr/>
        </p:nvSpPr>
        <p:spPr>
          <a:xfrm>
            <a:off x="3110979" y="2652480"/>
            <a:ext cx="477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7" name="Google Shape;1517;g3f74450dabd_7_38"/>
          <p:cNvCxnSpPr/>
          <p:nvPr/>
        </p:nvCxnSpPr>
        <p:spPr>
          <a:xfrm>
            <a:off x="4376977" y="2137785"/>
            <a:ext cx="718200" cy="402000"/>
          </a:xfrm>
          <a:prstGeom prst="bentConnector3">
            <a:avLst>
              <a:gd fmla="val 99956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18" name="Google Shape;1518;g3f74450dabd_7_38"/>
          <p:cNvCxnSpPr>
            <a:stCxn id="945" idx="3"/>
            <a:endCxn id="1283" idx="0"/>
          </p:cNvCxnSpPr>
          <p:nvPr/>
        </p:nvCxnSpPr>
        <p:spPr>
          <a:xfrm flipH="1" rot="10800000">
            <a:off x="4379239" y="1999807"/>
            <a:ext cx="2736900" cy="1500"/>
          </a:xfrm>
          <a:prstGeom prst="bentConnector4">
            <a:avLst>
              <a:gd fmla="val 43423" name="adj1"/>
              <a:gd fmla="val 11112458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19" name="Google Shape;1519;g3f74450dabd_7_38"/>
          <p:cNvCxnSpPr>
            <a:endCxn id="1263" idx="0"/>
          </p:cNvCxnSpPr>
          <p:nvPr/>
        </p:nvCxnSpPr>
        <p:spPr>
          <a:xfrm>
            <a:off x="4376995" y="1804466"/>
            <a:ext cx="3745200" cy="2106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520" name="Google Shape;1520;g3f74450dabd_7_38"/>
          <p:cNvSpPr/>
          <p:nvPr/>
        </p:nvSpPr>
        <p:spPr>
          <a:xfrm>
            <a:off x="4474715" y="1648040"/>
            <a:ext cx="477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443/TCP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1" name="Google Shape;1521;g3f74450dabd_7_38"/>
          <p:cNvGrpSpPr/>
          <p:nvPr/>
        </p:nvGrpSpPr>
        <p:grpSpPr>
          <a:xfrm>
            <a:off x="2428000" y="1050774"/>
            <a:ext cx="609008" cy="426011"/>
            <a:chOff x="1958823" y="1705953"/>
            <a:chExt cx="3276000" cy="2291613"/>
          </a:xfrm>
        </p:grpSpPr>
        <p:sp>
          <p:nvSpPr>
            <p:cNvPr id="1522" name="Google Shape;1522;g3f74450dabd_7_38"/>
            <p:cNvSpPr/>
            <p:nvPr/>
          </p:nvSpPr>
          <p:spPr>
            <a:xfrm>
              <a:off x="195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g3f74450dabd_7_38"/>
            <p:cNvSpPr/>
            <p:nvPr/>
          </p:nvSpPr>
          <p:spPr>
            <a:xfrm>
              <a:off x="487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g3f74450dabd_7_38"/>
            <p:cNvSpPr/>
            <p:nvPr/>
          </p:nvSpPr>
          <p:spPr>
            <a:xfrm>
              <a:off x="487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g3f74450dabd_7_38"/>
            <p:cNvSpPr/>
            <p:nvPr/>
          </p:nvSpPr>
          <p:spPr>
            <a:xfrm>
              <a:off x="4874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g3f74450dabd_7_38"/>
            <p:cNvSpPr/>
            <p:nvPr/>
          </p:nvSpPr>
          <p:spPr>
            <a:xfrm>
              <a:off x="4874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g3f74450dabd_7_38"/>
            <p:cNvSpPr/>
            <p:nvPr/>
          </p:nvSpPr>
          <p:spPr>
            <a:xfrm>
              <a:off x="2930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g3f74450dabd_7_38"/>
            <p:cNvSpPr/>
            <p:nvPr/>
          </p:nvSpPr>
          <p:spPr>
            <a:xfrm>
              <a:off x="3416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g3f74450dabd_7_38"/>
            <p:cNvSpPr/>
            <p:nvPr/>
          </p:nvSpPr>
          <p:spPr>
            <a:xfrm>
              <a:off x="3902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g3f74450dabd_7_38"/>
            <p:cNvSpPr/>
            <p:nvPr/>
          </p:nvSpPr>
          <p:spPr>
            <a:xfrm>
              <a:off x="4388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g3f74450dabd_7_38"/>
            <p:cNvSpPr/>
            <p:nvPr/>
          </p:nvSpPr>
          <p:spPr>
            <a:xfrm>
              <a:off x="4874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g3f74450dabd_7_38"/>
            <p:cNvSpPr/>
            <p:nvPr/>
          </p:nvSpPr>
          <p:spPr>
            <a:xfrm>
              <a:off x="2444823" y="1705953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g3f74450dabd_7_38"/>
            <p:cNvSpPr/>
            <p:nvPr/>
          </p:nvSpPr>
          <p:spPr>
            <a:xfrm>
              <a:off x="195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g3f74450dabd_7_38"/>
            <p:cNvSpPr/>
            <p:nvPr/>
          </p:nvSpPr>
          <p:spPr>
            <a:xfrm>
              <a:off x="2930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g3f74450dabd_7_38"/>
            <p:cNvSpPr/>
            <p:nvPr/>
          </p:nvSpPr>
          <p:spPr>
            <a:xfrm>
              <a:off x="3416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g3f74450dabd_7_38"/>
            <p:cNvSpPr/>
            <p:nvPr/>
          </p:nvSpPr>
          <p:spPr>
            <a:xfrm>
              <a:off x="3902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g3f74450dabd_7_38"/>
            <p:cNvSpPr/>
            <p:nvPr/>
          </p:nvSpPr>
          <p:spPr>
            <a:xfrm>
              <a:off x="4388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g3f74450dabd_7_38"/>
            <p:cNvSpPr/>
            <p:nvPr/>
          </p:nvSpPr>
          <p:spPr>
            <a:xfrm>
              <a:off x="2444823" y="363756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g3f74450dabd_7_38"/>
            <p:cNvSpPr/>
            <p:nvPr/>
          </p:nvSpPr>
          <p:spPr>
            <a:xfrm>
              <a:off x="1958823" y="2188856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g3f74450dabd_7_38"/>
            <p:cNvSpPr/>
            <p:nvPr/>
          </p:nvSpPr>
          <p:spPr>
            <a:xfrm>
              <a:off x="1958823" y="2671759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g3f74450dabd_7_38"/>
            <p:cNvSpPr/>
            <p:nvPr/>
          </p:nvSpPr>
          <p:spPr>
            <a:xfrm>
              <a:off x="1958823" y="3154661"/>
              <a:ext cx="3600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2" name="Google Shape;1542;g3f74450dabd_7_38"/>
            <p:cNvGrpSpPr/>
            <p:nvPr/>
          </p:nvGrpSpPr>
          <p:grpSpPr>
            <a:xfrm>
              <a:off x="2138819" y="1876122"/>
              <a:ext cx="2916004" cy="1822154"/>
              <a:chOff x="2138819" y="1876122"/>
              <a:chExt cx="2916004" cy="1822154"/>
            </a:xfrm>
          </p:grpSpPr>
          <p:sp>
            <p:nvSpPr>
              <p:cNvPr id="1543" name="Google Shape;1543;g3f74450dabd_7_38"/>
              <p:cNvSpPr/>
              <p:nvPr/>
            </p:nvSpPr>
            <p:spPr>
              <a:xfrm>
                <a:off x="2138819" y="2200976"/>
                <a:ext cx="2916000" cy="149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SPA</a:t>
                </a:r>
                <a:endParaRPr b="0" i="0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g3f74450dabd_7_38"/>
              <p:cNvSpPr/>
              <p:nvPr/>
            </p:nvSpPr>
            <p:spPr>
              <a:xfrm>
                <a:off x="2138823" y="1876122"/>
                <a:ext cx="2916000" cy="493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ru-RU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Python</a:t>
                </a:r>
                <a:endParaRPr b="0" i="0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545" name="Google Shape;1545;g3f74450dabd_7_38"/>
          <p:cNvCxnSpPr>
            <a:endCxn id="1543" idx="2"/>
          </p:cNvCxnSpPr>
          <p:nvPr/>
        </p:nvCxnSpPr>
        <p:spPr>
          <a:xfrm rot="-5400000">
            <a:off x="2352104" y="1797047"/>
            <a:ext cx="756300" cy="45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546" name="Google Shape;1546;g3f74450dabd_7_38"/>
          <p:cNvCxnSpPr>
            <a:endCxn id="919" idx="1"/>
          </p:cNvCxnSpPr>
          <p:nvPr/>
        </p:nvCxnSpPr>
        <p:spPr>
          <a:xfrm>
            <a:off x="3106636" y="2845238"/>
            <a:ext cx="558600" cy="6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547" name="Google Shape;1547;g3f74450dabd_7_38"/>
          <p:cNvCxnSpPr>
            <a:stCxn id="919" idx="3"/>
          </p:cNvCxnSpPr>
          <p:nvPr/>
        </p:nvCxnSpPr>
        <p:spPr>
          <a:xfrm>
            <a:off x="4385236" y="2845838"/>
            <a:ext cx="347400" cy="6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548" name="Google Shape;1548;g3f74450dabd_7_38"/>
          <p:cNvCxnSpPr>
            <a:stCxn id="1549" idx="2"/>
          </p:cNvCxnSpPr>
          <p:nvPr/>
        </p:nvCxnSpPr>
        <p:spPr>
          <a:xfrm rot="-5400000">
            <a:off x="7906871" y="2721574"/>
            <a:ext cx="1529400" cy="2130300"/>
          </a:xfrm>
          <a:prstGeom prst="bentConnector4">
            <a:avLst>
              <a:gd fmla="val -14947" name="adj1"/>
              <a:gd fmla="val 99843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550" name="Google Shape;1550;g3f74450dabd_7_38"/>
          <p:cNvCxnSpPr/>
          <p:nvPr/>
        </p:nvCxnSpPr>
        <p:spPr>
          <a:xfrm>
            <a:off x="4391716" y="2941439"/>
            <a:ext cx="347400" cy="6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grpSp>
        <p:nvGrpSpPr>
          <p:cNvPr id="1551" name="Google Shape;1551;g3f74450dabd_7_38"/>
          <p:cNvGrpSpPr/>
          <p:nvPr/>
        </p:nvGrpSpPr>
        <p:grpSpPr>
          <a:xfrm>
            <a:off x="7216430" y="3964485"/>
            <a:ext cx="791967" cy="586939"/>
            <a:chOff x="-1701619" y="4540110"/>
            <a:chExt cx="791967" cy="586939"/>
          </a:xfrm>
        </p:grpSpPr>
        <p:sp>
          <p:nvSpPr>
            <p:cNvPr id="1552" name="Google Shape;1552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g3f74450dabd_7_38"/>
            <p:cNvSpPr/>
            <p:nvPr/>
          </p:nvSpPr>
          <p:spPr>
            <a:xfrm>
              <a:off x="-1664878" y="4700449"/>
              <a:ext cx="706500" cy="426600"/>
            </a:xfrm>
            <a:prstGeom prst="rect">
              <a:avLst/>
            </a:prstGeom>
            <a:solidFill>
              <a:srgbClr val="EB9393">
                <a:alpha val="74900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Chat Service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3" name="Google Shape;1573;g3f74450dabd_7_38"/>
          <p:cNvGrpSpPr/>
          <p:nvPr/>
        </p:nvGrpSpPr>
        <p:grpSpPr>
          <a:xfrm>
            <a:off x="8100820" y="3963373"/>
            <a:ext cx="791967" cy="588139"/>
            <a:chOff x="-1701619" y="4540110"/>
            <a:chExt cx="791967" cy="588139"/>
          </a:xfrm>
        </p:grpSpPr>
        <p:sp>
          <p:nvSpPr>
            <p:cNvPr id="1574" name="Google Shape;1574;g3f74450dabd_7_38"/>
            <p:cNvSpPr/>
            <p:nvPr/>
          </p:nvSpPr>
          <p:spPr>
            <a:xfrm>
              <a:off x="-170161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g3f74450dabd_7_38"/>
            <p:cNvSpPr/>
            <p:nvPr/>
          </p:nvSpPr>
          <p:spPr>
            <a:xfrm>
              <a:off x="-996652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g3f74450dabd_7_38"/>
            <p:cNvSpPr/>
            <p:nvPr/>
          </p:nvSpPr>
          <p:spPr>
            <a:xfrm>
              <a:off x="-996652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g3f74450dabd_7_38"/>
            <p:cNvSpPr/>
            <p:nvPr/>
          </p:nvSpPr>
          <p:spPr>
            <a:xfrm>
              <a:off x="-996652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g3f74450dabd_7_38"/>
            <p:cNvSpPr/>
            <p:nvPr/>
          </p:nvSpPr>
          <p:spPr>
            <a:xfrm>
              <a:off x="-996652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g3f74450dabd_7_38"/>
            <p:cNvSpPr/>
            <p:nvPr/>
          </p:nvSpPr>
          <p:spPr>
            <a:xfrm>
              <a:off x="-1466631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g3f74450dabd_7_38"/>
            <p:cNvSpPr/>
            <p:nvPr/>
          </p:nvSpPr>
          <p:spPr>
            <a:xfrm>
              <a:off x="-1349137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g3f74450dabd_7_38"/>
            <p:cNvSpPr/>
            <p:nvPr/>
          </p:nvSpPr>
          <p:spPr>
            <a:xfrm>
              <a:off x="-1231643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g3f74450dabd_7_38"/>
            <p:cNvSpPr/>
            <p:nvPr/>
          </p:nvSpPr>
          <p:spPr>
            <a:xfrm>
              <a:off x="-1114149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g3f74450dabd_7_38"/>
            <p:cNvSpPr/>
            <p:nvPr/>
          </p:nvSpPr>
          <p:spPr>
            <a:xfrm>
              <a:off x="-996652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g3f74450dabd_7_38"/>
            <p:cNvSpPr/>
            <p:nvPr/>
          </p:nvSpPr>
          <p:spPr>
            <a:xfrm>
              <a:off x="-1584125" y="4540110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g3f74450dabd_7_38"/>
            <p:cNvSpPr/>
            <p:nvPr/>
          </p:nvSpPr>
          <p:spPr>
            <a:xfrm>
              <a:off x="-170161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g3f74450dabd_7_38"/>
            <p:cNvSpPr/>
            <p:nvPr/>
          </p:nvSpPr>
          <p:spPr>
            <a:xfrm>
              <a:off x="-1466631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g3f74450dabd_7_38"/>
            <p:cNvSpPr/>
            <p:nvPr/>
          </p:nvSpPr>
          <p:spPr>
            <a:xfrm>
              <a:off x="-1349137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g3f74450dabd_7_38"/>
            <p:cNvSpPr/>
            <p:nvPr/>
          </p:nvSpPr>
          <p:spPr>
            <a:xfrm>
              <a:off x="-1231643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g3f74450dabd_7_38"/>
            <p:cNvSpPr/>
            <p:nvPr/>
          </p:nvSpPr>
          <p:spPr>
            <a:xfrm>
              <a:off x="-1114149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g3f74450dabd_7_38"/>
            <p:cNvSpPr/>
            <p:nvPr/>
          </p:nvSpPr>
          <p:spPr>
            <a:xfrm>
              <a:off x="-1584125" y="5007093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g3f74450dabd_7_38"/>
            <p:cNvSpPr/>
            <p:nvPr/>
          </p:nvSpPr>
          <p:spPr>
            <a:xfrm>
              <a:off x="-1701619" y="4656856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g3f74450dabd_7_38"/>
            <p:cNvSpPr/>
            <p:nvPr/>
          </p:nvSpPr>
          <p:spPr>
            <a:xfrm>
              <a:off x="-1701619" y="4773601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g3f74450dabd_7_38"/>
            <p:cNvSpPr/>
            <p:nvPr/>
          </p:nvSpPr>
          <p:spPr>
            <a:xfrm>
              <a:off x="-1701619" y="4890347"/>
              <a:ext cx="87000" cy="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g3f74450dabd_7_38"/>
            <p:cNvSpPr/>
            <p:nvPr/>
          </p:nvSpPr>
          <p:spPr>
            <a:xfrm>
              <a:off x="-1664877" y="4700449"/>
              <a:ext cx="717600" cy="427800"/>
            </a:xfrm>
            <a:prstGeom prst="rect">
              <a:avLst/>
            </a:prstGeom>
            <a:solidFill>
              <a:srgbClr val="EB9393">
                <a:alpha val="96080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TZ Generator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Backend service</a:t>
              </a:r>
              <a:endPara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g3f74450dabd_7_38"/>
            <p:cNvSpPr/>
            <p:nvPr/>
          </p:nvSpPr>
          <p:spPr>
            <a:xfrm>
              <a:off x="-1664875" y="4581241"/>
              <a:ext cx="720000" cy="121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ru-RU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.NET</a:t>
              </a:r>
              <a:endPara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96" name="Google Shape;1596;g3f74450dabd_7_38"/>
          <p:cNvCxnSpPr/>
          <p:nvPr/>
        </p:nvCxnSpPr>
        <p:spPr>
          <a:xfrm>
            <a:off x="5453063" y="2944101"/>
            <a:ext cx="2159700" cy="10440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597" name="Google Shape;1597;g3f74450dabd_7_38"/>
          <p:cNvCxnSpPr/>
          <p:nvPr/>
        </p:nvCxnSpPr>
        <p:spPr>
          <a:xfrm>
            <a:off x="5453431" y="2997236"/>
            <a:ext cx="3158100" cy="1006200"/>
          </a:xfrm>
          <a:prstGeom prst="bentConnector3">
            <a:avLst>
              <a:gd fmla="val 100034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598" name="Google Shape;1598;g3f74450dabd_7_38"/>
          <p:cNvCxnSpPr>
            <a:stCxn id="1594" idx="2"/>
          </p:cNvCxnSpPr>
          <p:nvPr/>
        </p:nvCxnSpPr>
        <p:spPr>
          <a:xfrm rot="-5400000">
            <a:off x="8350262" y="3164912"/>
            <a:ext cx="1532700" cy="1240500"/>
          </a:xfrm>
          <a:prstGeom prst="bentConnector3">
            <a:avLst>
              <a:gd fmla="val -14915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599" name="Google Shape;1599;g3f74450dabd_7_38"/>
          <p:cNvCxnSpPr>
            <a:endCxn id="1034" idx="2"/>
          </p:cNvCxnSpPr>
          <p:nvPr/>
        </p:nvCxnSpPr>
        <p:spPr>
          <a:xfrm flipH="1" rot="10800000">
            <a:off x="8882804" y="3020285"/>
            <a:ext cx="2066400" cy="1185600"/>
          </a:xfrm>
          <a:prstGeom prst="bentConnector2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00" name="Google Shape;1600;g3f74450dabd_7_38"/>
          <p:cNvCxnSpPr>
            <a:stCxn id="1549" idx="3"/>
            <a:endCxn id="1594" idx="1"/>
          </p:cNvCxnSpPr>
          <p:nvPr/>
        </p:nvCxnSpPr>
        <p:spPr>
          <a:xfrm flipH="1" rot="10800000">
            <a:off x="7959671" y="4337524"/>
            <a:ext cx="177900" cy="600"/>
          </a:xfrm>
          <a:prstGeom prst="bentConnector3">
            <a:avLst>
              <a:gd fmla="val 50024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stealth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f73ffa0c65_0_798"/>
          <p:cNvSpPr txBox="1"/>
          <p:nvPr/>
        </p:nvSpPr>
        <p:spPr>
          <a:xfrm>
            <a:off x="8724571" y="6320134"/>
            <a:ext cx="3222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FFFF"/>
                </a:solidFill>
              </a:rPr>
              <a:t>ГАЗПРОМ НЕФТЬ   </a:t>
            </a:r>
            <a:endParaRPr sz="900">
              <a:solidFill>
                <a:srgbClr val="7F7F7F"/>
              </a:solidFill>
            </a:endParaRPr>
          </a:p>
        </p:txBody>
      </p:sp>
      <p:sp>
        <p:nvSpPr>
          <p:cNvPr id="1607" name="Google Shape;1607;g3f73ffa0c65_0_798"/>
          <p:cNvSpPr txBox="1"/>
          <p:nvPr/>
        </p:nvSpPr>
        <p:spPr>
          <a:xfrm>
            <a:off x="1028611" y="260784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g3f73ffa0c65_0_798"/>
          <p:cNvSpPr txBox="1"/>
          <p:nvPr/>
        </p:nvSpPr>
        <p:spPr>
          <a:xfrm>
            <a:off x="692943" y="2794488"/>
            <a:ext cx="11011500" cy="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ru-RU" sz="3200">
                <a:solidFill>
                  <a:schemeClr val="lt1"/>
                </a:solidFill>
              </a:rPr>
              <a:t>ПРИЛОЖЕНИЕ</a:t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1609" name="Google Shape;1609;g3f73ffa0c65_0_798"/>
          <p:cNvSpPr/>
          <p:nvPr/>
        </p:nvSpPr>
        <p:spPr>
          <a:xfrm>
            <a:off x="692943" y="2517345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g3f73ffa0c65_0_798"/>
          <p:cNvSpPr/>
          <p:nvPr/>
        </p:nvSpPr>
        <p:spPr>
          <a:xfrm>
            <a:off x="692943" y="3706252"/>
            <a:ext cx="914400" cy="1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3f74450dabd_1_12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17" name="Google Shape;1617;g3f74450dabd_1_12"/>
          <p:cNvSpPr txBox="1"/>
          <p:nvPr>
            <p:ph type="title"/>
          </p:nvPr>
        </p:nvSpPr>
        <p:spPr>
          <a:xfrm>
            <a:off x="359171" y="414325"/>
            <a:ext cx="3314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800"/>
              <a:buFont typeface="Arial"/>
              <a:buNone/>
            </a:pPr>
            <a:r>
              <a:rPr lang="ru-RU"/>
              <a:t>ТРУДОЗАТРАТЫ</a:t>
            </a:r>
            <a:endParaRPr/>
          </a:p>
        </p:txBody>
      </p:sp>
      <p:pic>
        <p:nvPicPr>
          <p:cNvPr id="1618" name="Google Shape;1618;g3f74450dabd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1525"/>
            <a:ext cx="11887200" cy="2373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g3f74450dabd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350" y="3787900"/>
            <a:ext cx="9453650" cy="21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3f753d40b9e_1_5"/>
          <p:cNvSpPr txBox="1"/>
          <p:nvPr>
            <p:ph idx="12" type="sldNum"/>
          </p:nvPr>
        </p:nvSpPr>
        <p:spPr>
          <a:xfrm>
            <a:off x="8724421" y="6307809"/>
            <a:ext cx="32220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E7E7E"/>
              </a:buClr>
              <a:buSzPts val="900"/>
              <a:buFont typeface="Arial"/>
              <a:buNone/>
            </a:pPr>
            <a:r>
              <a:rPr lang="ru-RU"/>
              <a:t>ГАЗПРОМ НЕФТЬ   </a:t>
            </a: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626" name="Google Shape;1626;g3f753d40b9e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188" y="1285857"/>
            <a:ext cx="9445621" cy="50219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g3f753d40b9e_1_5"/>
          <p:cNvSpPr txBox="1"/>
          <p:nvPr>
            <p:ph type="title"/>
          </p:nvPr>
        </p:nvSpPr>
        <p:spPr>
          <a:xfrm>
            <a:off x="359171" y="414325"/>
            <a:ext cx="3314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2800"/>
              <a:buFont typeface="Arial"/>
              <a:buNone/>
            </a:pPr>
            <a:r>
              <a:rPr lang="ru-RU"/>
              <a:t>OPEX/ CAPEX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gpn_report">
  <a:themeElements>
    <a:clrScheme name="Другая 40">
      <a:dk1>
        <a:srgbClr val="3C3C3C"/>
      </a:dk1>
      <a:lt1>
        <a:srgbClr val="FFFFFF"/>
      </a:lt1>
      <a:dk2>
        <a:srgbClr val="000000"/>
      </a:dk2>
      <a:lt2>
        <a:srgbClr val="F2F2F2"/>
      </a:lt2>
      <a:accent1>
        <a:srgbClr val="004596"/>
      </a:accent1>
      <a:accent2>
        <a:srgbClr val="2FB3E9"/>
      </a:accent2>
      <a:accent3>
        <a:srgbClr val="0097D8"/>
      </a:accent3>
      <a:accent4>
        <a:srgbClr val="0070BA"/>
      </a:accent4>
      <a:accent5>
        <a:srgbClr val="E75807"/>
      </a:accent5>
      <a:accent6>
        <a:srgbClr val="23D1CF"/>
      </a:accent6>
      <a:hlink>
        <a:srgbClr val="004596"/>
      </a:hlink>
      <a:folHlink>
        <a:srgbClr val="70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2022-11-17T18:59:49Z</dcterms:created>
</cp:coreProperties>
</file>